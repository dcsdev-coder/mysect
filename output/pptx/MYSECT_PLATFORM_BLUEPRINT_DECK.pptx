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6bad3e5ee2459e" /><Relationship Type="http://schemas.openxmlformats.org/officeDocument/2006/relationships/extended-properties" Target="/docProps/app.xml" Id="R275c5822f2c74600" /><Relationship Type="http://schemas.openxmlformats.org/officeDocument/2006/relationships/officeDocument" Target="/ppt/presentation.xml" Id="R9b2e068eaf9d49b2" /></Relationships>
</file>

<file path=ppt/presentation.xml><?xml version="1.0" encoding="utf-8"?>
<p:presentation xmlns:p="http://schemas.openxmlformats.org/presentationml/2006/main">
  <p:sldMasterIdLst>
    <p:sldMasterId xmlns:r="http://schemas.openxmlformats.org/officeDocument/2006/relationships" id="2147483648" r:id="R206368b8f8af4156"/>
  </p:sldMasterIdLst>
  <p:notesMasterIdLst>
    <p:notesMasterId xmlns:r="http://schemas.openxmlformats.org/officeDocument/2006/relationships" r:id="R1cf8a77cadc145cd"/>
  </p:notesMasterIdLst>
  <p:sldIdLst>
    <p:sldId xmlns:r="http://schemas.openxmlformats.org/officeDocument/2006/relationships" id="256" r:id="R579e0de934ad4b5a"/>
    <p:sldId xmlns:r="http://schemas.openxmlformats.org/officeDocument/2006/relationships" id="257" r:id="Rd260f2aa6a2d4cf5"/>
    <p:sldId xmlns:r="http://schemas.openxmlformats.org/officeDocument/2006/relationships" id="258" r:id="R29de83e8d7564532"/>
    <p:sldId xmlns:r="http://schemas.openxmlformats.org/officeDocument/2006/relationships" id="259" r:id="Rafef1a7cd7004d8e"/>
    <p:sldId xmlns:r="http://schemas.openxmlformats.org/officeDocument/2006/relationships" id="260" r:id="R7686e7e505e6492a"/>
    <p:sldId xmlns:r="http://schemas.openxmlformats.org/officeDocument/2006/relationships" id="261" r:id="R19ac99b73f274f06"/>
    <p:sldId xmlns:r="http://schemas.openxmlformats.org/officeDocument/2006/relationships" id="262" r:id="Rd5ddbf13ddf349f9"/>
    <p:sldId xmlns:r="http://schemas.openxmlformats.org/officeDocument/2006/relationships" id="263" r:id="Ra72d013df3dc478d"/>
    <p:sldId xmlns:r="http://schemas.openxmlformats.org/officeDocument/2006/relationships" id="264" r:id="R07e146a0c5bc4b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d3d814f8784edc" /><Relationship Type="http://schemas.openxmlformats.org/officeDocument/2006/relationships/slideMaster" Target="/ppt/slideMasters/slideMaster1.xml" Id="R206368b8f8af4156" /><Relationship Type="http://schemas.openxmlformats.org/officeDocument/2006/relationships/notesMaster" Target="/ppt/notesMasters/notesMaster1.xml" Id="R1cf8a77cadc145cd" /><Relationship Type="http://schemas.openxmlformats.org/officeDocument/2006/relationships/presProps" Target="/ppt/presProps.xml" Id="Ra2da4ff51364493d" /><Relationship Type="http://schemas.openxmlformats.org/officeDocument/2006/relationships/tableStyles" Target="/ppt/tableStyles.xml" Id="Rbbe8ccf9940f4bd1" /><Relationship Type="http://schemas.openxmlformats.org/officeDocument/2006/relationships/slide" Target="/ppt/slides/slide1.xml" Id="R579e0de934ad4b5a" /><Relationship Type="http://schemas.openxmlformats.org/officeDocument/2006/relationships/slide" Target="/ppt/slides/slide2.xml" Id="Rd260f2aa6a2d4cf5" /><Relationship Type="http://schemas.openxmlformats.org/officeDocument/2006/relationships/slide" Target="/ppt/slides/slide3.xml" Id="R29de83e8d7564532" /><Relationship Type="http://schemas.openxmlformats.org/officeDocument/2006/relationships/slide" Target="/ppt/slides/slide4.xml" Id="Rafef1a7cd7004d8e" /><Relationship Type="http://schemas.openxmlformats.org/officeDocument/2006/relationships/slide" Target="/ppt/slides/slide5.xml" Id="R7686e7e505e6492a" /><Relationship Type="http://schemas.openxmlformats.org/officeDocument/2006/relationships/slide" Target="/ppt/slides/slide6.xml" Id="R19ac99b73f274f06" /><Relationship Type="http://schemas.openxmlformats.org/officeDocument/2006/relationships/slide" Target="/ppt/slides/slide7.xml" Id="Rd5ddbf13ddf349f9" /><Relationship Type="http://schemas.openxmlformats.org/officeDocument/2006/relationships/slide" Target="/ppt/slides/slide8.xml" Id="Ra72d013df3dc478d" /><Relationship Type="http://schemas.openxmlformats.org/officeDocument/2006/relationships/slide" Target="/ppt/slides/slide9.xml" Id="R07e146a0c5bc4b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b87936274147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01211ea42e4e01" /><Relationship Type="http://schemas.openxmlformats.org/officeDocument/2006/relationships/notesMaster" Target="/ppt/notesMasters/notesMaster1.xml" Id="R8b167e8f8a414e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ddd1ad45e1474b" /><Relationship Type="http://schemas.openxmlformats.org/officeDocument/2006/relationships/notesMaster" Target="/ppt/notesMasters/notesMaster1.xml" Id="Rc80306f02db247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21b4020d964cf0" /><Relationship Type="http://schemas.openxmlformats.org/officeDocument/2006/relationships/notesMaster" Target="/ppt/notesMasters/notesMaster1.xml" Id="R30f9579933264e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54cda33d834a13" /><Relationship Type="http://schemas.openxmlformats.org/officeDocument/2006/relationships/notesMaster" Target="/ppt/notesMasters/notesMaster1.xml" Id="R4f537d6b27864e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6a1dc483ab488b" /><Relationship Type="http://schemas.openxmlformats.org/officeDocument/2006/relationships/notesMaster" Target="/ppt/notesMasters/notesMaster1.xml" Id="R991e3d0318be4a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0ae18ed0e84eb1" /><Relationship Type="http://schemas.openxmlformats.org/officeDocument/2006/relationships/notesMaster" Target="/ppt/notesMasters/notesMaster1.xml" Id="R2ccac3ccf976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0bc017143d4f58" /><Relationship Type="http://schemas.openxmlformats.org/officeDocument/2006/relationships/notesMaster" Target="/ppt/notesMasters/notesMaster1.xml" Id="Rcadc1da4791445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f72fdb6de434d" /><Relationship Type="http://schemas.openxmlformats.org/officeDocument/2006/relationships/notesMaster" Target="/ppt/notesMasters/notesMaster1.xml" Id="Rf927b07a246049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3a500ad31c4fa6" /><Relationship Type="http://schemas.openxmlformats.org/officeDocument/2006/relationships/notesMaster" Target="/ppt/notesMasters/notesMaster1.xml" Id="R889f1061711e47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proposed MySect product and delivery blueprint. Source: MYSECT_PLATFORM_BLUEPRINT.md.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three role-specific products share one backend and authorization model. The secretary firm is a tenant/partner organization; MySect remains the platform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recommendation: one backend with modular domains, strict tenant isolation, backend-controlled AI tools, and signed file access. Source: blueprint sections 6, 7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reflects the agreed MySect workflow: customers speak to AI first; the secretary controls the human chat. AI must use backend tools and escalation rules, not free-form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choice: Windows Server remains the operational host, but production Linux containers should run inside a Hyper-V Linux VM rather than relying on Docker Desktop as the server runtime. Sources: Microsoft Windows containers/Linux containers documentation and TM One cloud service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sources: Google Gemini API pricing, Mistral API pricing, DeepSeek API pricing, and OpenAI API pricing. Prices are subject to provider changes and do not include OCR, storage, observability, development, or support. Recommended implementation: provider-neutral AiProvider interface, Gemini Flash-Lite for pilot intake, with a controlled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 architecture: two independent billing ledgers and merchant relationships. Evaluate Stripe first for Malaysia, using recurring card billing for MySect firm subscriptions and one-off FPX/card checkout for secretary invoices. FPX is not recurring according to Stripe documentation. Sources: Stripe Malaysia pricing, Billing, FPX and Connect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is a planning range, not a vendor quotation. Detailed categories are in the PDF: product/engineering, Windows/VM, storage/backups, AI, security/legal, support, and contingency.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next deliverable after management approval should be the MVP product requirements, permission matrix, data model, and clickable role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fc8d4aa85b4d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a29ea162834035" /><Relationship Type="http://schemas.openxmlformats.org/officeDocument/2006/relationships/slideLayout" Target="/ppt/slideLayouts/slideLayout1.xml" Id="R3be0ff57c04a47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e0ff57c04a47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ac26891d5844f4" /><Relationship Type="http://schemas.openxmlformats.org/officeDocument/2006/relationships/notesSlide" Target="/ppt/notesSlides/notesSlide1.xml" Id="R9d1df86cdd0244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23447925dd4b16" /><Relationship Type="http://schemas.openxmlformats.org/officeDocument/2006/relationships/notesSlide" Target="/ppt/notesSlides/notesSlide2.xml" Id="Rfc228bd7b03041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d8da009402458a" /><Relationship Type="http://schemas.openxmlformats.org/officeDocument/2006/relationships/notesSlide" Target="/ppt/notesSlides/notesSlide3.xml" Id="R4ef6c7d032cf49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682a8d422c49aa" /><Relationship Type="http://schemas.openxmlformats.org/officeDocument/2006/relationships/notesSlide" Target="/ppt/notesSlides/notesSlide4.xml" Id="R50925d8bca7f45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3422b164594a7e" /><Relationship Type="http://schemas.openxmlformats.org/officeDocument/2006/relationships/notesSlide" Target="/ppt/notesSlides/notesSlide5.xml" Id="Ra6d54524457b42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ddb114b277412a" /><Relationship Type="http://schemas.openxmlformats.org/officeDocument/2006/relationships/notesSlide" Target="/ppt/notesSlides/notesSlide6.xml" Id="Rd8af44668b154a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4a1200146b4985" /><Relationship Type="http://schemas.openxmlformats.org/officeDocument/2006/relationships/notesSlide" Target="/ppt/notesSlides/notesSlide7.xml" Id="R43f406d4380a4d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9b4ef7149543c4" /><Relationship Type="http://schemas.openxmlformats.org/officeDocument/2006/relationships/notesSlide" Target="/ppt/notesSlides/notesSlide8.xml" Id="Rbe2eb4a7467942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3d48ec4d7e4547" /><Relationship Type="http://schemas.openxmlformats.org/officeDocument/2006/relationships/notesSlide" Target="/ppt/notesSlides/notesSlide9.xml" Id="R1fd79759977a429e" /></Relationships>
</file>

<file path=ppt/slides/slide1.xml><?xml version="1.0" encoding="utf-8"?>
<p:sld xmlns:p="http://schemas.openxmlformats.org/presentationml/2006/main">
  <p:cSld>
    <p:bg>
      <p:bgPr>
        <a:solidFill xmlns:a="http://schemas.openxmlformats.org/drawingml/2006/main">
          <a:srgbClr val="123B6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9FB66D-0294-4D75-BB2F-B5A4C4EE7244}"/>
              </a:ext>
            </a:extLst>
          </p:cNvPr>
          <p:cNvSpPr>
            <a:spLocks xmlns:a="http://schemas.openxmlformats.org/drawingml/2006/main" noGrp="1"/>
          </p:cNvSpPr>
          <p:nvPr/>
        </p:nvSpPr>
        <p:spPr>
          <a:xfrm xmlns:a="http://schemas.openxmlformats.org/drawingml/2006/main">
            <a:off x="742950" y="904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i="0">
                <a:solidFill>
                  <a:srgbClr val="9FD7E0"/>
                </a:solidFill>
                <a:latin typeface="Helvetica Neue"/>
                <a:ea typeface="Helvetica Neue"/>
                <a:cs typeface="Helvetica Neue"/>
              </a:defRPr>
            </a:pPr>
            <a:r>
              <a:rPr sz="1125" b="1" i="0">
                <a:solidFill>
                  <a:srgbClr val="9FD7E0"/>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6FE342DC-B26C-426A-BF50-2C8B2F26A0F6}"/>
              </a:ext>
            </a:extLst>
          </p:cNvPr>
          <p:cNvSpPr>
            <a:spLocks xmlns:a="http://schemas.openxmlformats.org/drawingml/2006/main" noGrp="1"/>
          </p:cNvSpPr>
          <p:nvPr/>
        </p:nvSpPr>
        <p:spPr>
          <a:xfrm xmlns:a="http://schemas.openxmlformats.org/drawingml/2006/main">
            <a:off x="742950" y="15811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A secure operating platform</a:t>
            </a:r>
          </a:p>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for company-secretary services</a:t>
            </a:r>
          </a:p>
        </p:txBody>
      </p:sp>
      <p:sp>
        <p:nvSpPr>
          <p:cNvPr id="3" name="">
            <a:extLst xmlns:a="http://schemas.openxmlformats.org/drawingml/2006/main">
              <a:ext uri="{FF2B5EF4-FFF2-40B4-BE49-F238E27FC236}">
                <a16:creationId xmlns:a16="http://schemas.microsoft.com/office/drawing/2014/main" id="{CE06D1D0-3FD8-4CBE-B89A-7B4BDE25E355}"/>
              </a:ext>
            </a:extLst>
          </p:cNvPr>
          <p:cNvSpPr>
            <a:spLocks xmlns:a="http://schemas.openxmlformats.org/drawingml/2006/main" noGrp="1"/>
          </p:cNvSpPr>
          <p:nvPr/>
        </p:nvSpPr>
        <p:spPr>
          <a:xfrm xmlns:a="http://schemas.openxmlformats.org/drawingml/2006/main">
            <a:off x="781050" y="3162300"/>
            <a:ext cx="781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i="0">
                <a:solidFill>
                  <a:srgbClr val="D9E8F1"/>
                </a:solidFill>
                <a:latin typeface="Helvetica Neue"/>
                <a:ea typeface="Helvetica Neue"/>
                <a:cs typeface="Helvetica Neue"/>
              </a:defRPr>
            </a:pPr>
            <a:r>
              <a:rPr sz="1575" b="0" i="0">
                <a:solidFill>
                  <a:srgbClr val="D9E8F1"/>
                </a:solidFill>
                <a:latin typeface="Helvetica Neue"/>
                <a:ea typeface="Helvetica Neue"/>
                <a:cs typeface="Helvetica Neue"/>
              </a:rPr>
              <a:t>Customer mobile app  |  Secretary workspace  |  MySect admin console</a:t>
            </a:r>
          </a:p>
        </p:txBody>
      </p:sp>
      <p:sp>
        <p:nvSpPr>
          <p:cNvPr id="4" name="">
            <a:extLst xmlns:a="http://schemas.openxmlformats.org/drawingml/2006/main">
              <a:ext uri="{FF2B5EF4-FFF2-40B4-BE49-F238E27FC236}">
                <a16:creationId xmlns:a16="http://schemas.microsoft.com/office/drawing/2014/main" id="{10DA7B1A-7EC2-4471-BC0F-00310BE50C45}"/>
              </a:ext>
            </a:extLst>
          </p:cNvPr>
          <p:cNvSpPr>
            <a:spLocks xmlns:a="http://schemas.openxmlformats.org/drawingml/2006/main" noGrp="1"/>
          </p:cNvSpPr>
          <p:nvPr/>
        </p:nvSpPr>
        <p:spPr>
          <a:xfrm xmlns:a="http://schemas.openxmlformats.org/drawingml/2006/main">
            <a:off x="781050" y="5257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Management decision deck</a:t>
            </a:r>
          </a:p>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28 September 2026</a:t>
            </a:r>
          </a:p>
        </p:txBody>
      </p:sp>
      <p:sp>
        <p:nvSpPr>
          <p:cNvPr id="5" name="">
            <a:extLst xmlns:a="http://schemas.openxmlformats.org/drawingml/2006/main">
              <a:ext uri="{FF2B5EF4-FFF2-40B4-BE49-F238E27FC236}">
                <a16:creationId xmlns:a16="http://schemas.microsoft.com/office/drawing/2014/main" id="{AEE16696-F1C4-4F83-9A22-2E1570A784DC}"/>
              </a:ext>
            </a:extLst>
          </p:cNvPr>
          <p:cNvSpPr>
            <a:spLocks xmlns:a="http://schemas.openxmlformats.org/drawingml/2006/main" noGrp="1"/>
          </p:cNvSpPr>
          <p:nvPr/>
        </p:nvSpPr>
        <p:spPr>
          <a:xfrm xmlns:a="http://schemas.openxmlformats.org/drawingml/2006/main">
            <a:off x="9239250" y="54292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AI-first</a:t>
            </a:r>
          </a:p>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secretary-controlled</a:t>
            </a:r>
          </a:p>
        </p:txBody>
      </p:sp>
    </p:spTree>
    <p:extLst>
      <p:ext uri="{BB962C8B-B14F-4D97-AF65-F5344CB8AC3E}">
        <p14:creationId xmlns:p14="http://schemas.microsoft.com/office/powerpoint/2010/main" val="1473324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95F1A1-61B8-4B50-950F-5D68BB76BC42}"/>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AB0F9FDA-0BB7-4D92-9F68-AF181564134A}"/>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One platform, three controlled experiences</a:t>
            </a:r>
          </a:p>
        </p:txBody>
      </p:sp>
      <p:sp>
        <p:nvSpPr>
          <p:cNvPr id="3" name="">
            <a:extLst xmlns:a="http://schemas.openxmlformats.org/drawingml/2006/main">
              <a:ext uri="{FF2B5EF4-FFF2-40B4-BE49-F238E27FC236}">
                <a16:creationId xmlns:a16="http://schemas.microsoft.com/office/drawing/2014/main" id="{7B408166-5053-4CEC-9E30-E6A2555F2223}"/>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D76A84BA-8857-4C07-9D79-73243AF00A6C}"/>
              </a:ext>
            </a:extLst>
          </p:cNvPr>
          <p:cNvSpPr>
            <a:spLocks xmlns:a="http://schemas.openxmlformats.org/drawingml/2006/main" noGrp="1"/>
          </p:cNvSpPr>
          <p:nvPr/>
        </p:nvSpPr>
        <p:spPr>
          <a:xfrm xmlns:a="http://schemas.openxmlformats.org/drawingml/2006/main">
            <a:off x="55245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AB0039DA-9753-472C-867E-4E8EEC9F4A9D}"/>
              </a:ext>
            </a:extLst>
          </p:cNvPr>
          <p:cNvSpPr>
            <a:spLocks xmlns:a="http://schemas.openxmlformats.org/drawingml/2006/main" noGrp="1"/>
          </p:cNvSpPr>
          <p:nvPr/>
        </p:nvSpPr>
        <p:spPr>
          <a:xfrm xmlns:a="http://schemas.openxmlformats.org/drawingml/2006/main">
            <a:off x="72390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D6FA5"/>
                </a:solidFill>
                <a:latin typeface="Helvetica Neue"/>
                <a:ea typeface="Helvetica Neue"/>
                <a:cs typeface="Helvetica Neue"/>
              </a:defRPr>
            </a:pPr>
            <a:r>
              <a:rPr sz="1425" b="1" i="0">
                <a:solidFill>
                  <a:srgbClr val="1D6FA5"/>
                </a:solidFill>
                <a:latin typeface="Helvetica Neue"/>
                <a:ea typeface="Helvetica Neue"/>
                <a:cs typeface="Helvetica Neue"/>
              </a:rPr>
              <a:t>01  Customer</a:t>
            </a:r>
          </a:p>
        </p:txBody>
      </p:sp>
      <p:sp>
        <p:nvSpPr>
          <p:cNvPr id="6" name="">
            <a:extLst xmlns:a="http://schemas.openxmlformats.org/drawingml/2006/main">
              <a:ext uri="{FF2B5EF4-FFF2-40B4-BE49-F238E27FC236}">
                <a16:creationId xmlns:a16="http://schemas.microsoft.com/office/drawing/2014/main" id="{27FAB7CE-9CF4-4CB0-A75C-49DCDFDCA767}"/>
              </a:ext>
            </a:extLst>
          </p:cNvPr>
          <p:cNvSpPr>
            <a:spLocks xmlns:a="http://schemas.openxmlformats.org/drawingml/2006/main" noGrp="1"/>
          </p:cNvSpPr>
          <p:nvPr/>
        </p:nvSpPr>
        <p:spPr>
          <a:xfrm xmlns:a="http://schemas.openxmlformats.org/drawingml/2006/main">
            <a:off x="72390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Mobile app</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Company profile and compliance tasks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Documents and approvals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AI intake for every new issue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Status, notifications and billing</a:t>
            </a:r>
          </a:p>
        </p:txBody>
      </p:sp>
      <p:sp>
        <p:nvSpPr>
          <p:cNvPr id="7" name="">
            <a:extLst xmlns:a="http://schemas.openxmlformats.org/drawingml/2006/main">
              <a:ext uri="{FF2B5EF4-FFF2-40B4-BE49-F238E27FC236}">
                <a16:creationId xmlns:a16="http://schemas.microsoft.com/office/drawing/2014/main" id="{185B5CDB-9AC2-4CF8-9DDC-178BC85CB644}"/>
              </a:ext>
            </a:extLst>
          </p:cNvPr>
          <p:cNvSpPr>
            <a:spLocks xmlns:a="http://schemas.openxmlformats.org/drawingml/2006/main" noGrp="1"/>
          </p:cNvSpPr>
          <p:nvPr/>
        </p:nvSpPr>
        <p:spPr>
          <a:xfrm xmlns:a="http://schemas.openxmlformats.org/drawingml/2006/main">
            <a:off x="4429125"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DC6C15B7-1C4B-4BB9-9557-3E77892F59E0}"/>
              </a:ext>
            </a:extLst>
          </p:cNvPr>
          <p:cNvSpPr>
            <a:spLocks xmlns:a="http://schemas.openxmlformats.org/drawingml/2006/main" noGrp="1"/>
          </p:cNvSpPr>
          <p:nvPr/>
        </p:nvSpPr>
        <p:spPr>
          <a:xfrm xmlns:a="http://schemas.openxmlformats.org/drawingml/2006/main">
            <a:off x="4600575"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02  Secretary firm</a:t>
            </a:r>
          </a:p>
        </p:txBody>
      </p:sp>
      <p:sp>
        <p:nvSpPr>
          <p:cNvPr id="9" name="">
            <a:extLst xmlns:a="http://schemas.openxmlformats.org/drawingml/2006/main">
              <a:ext uri="{FF2B5EF4-FFF2-40B4-BE49-F238E27FC236}">
                <a16:creationId xmlns:a16="http://schemas.microsoft.com/office/drawing/2014/main" id="{8CECF4D4-338A-4A48-879C-6B9369BC735B}"/>
              </a:ext>
            </a:extLst>
          </p:cNvPr>
          <p:cNvSpPr>
            <a:spLocks xmlns:a="http://schemas.openxmlformats.org/drawingml/2006/main" noGrp="1"/>
          </p:cNvSpPr>
          <p:nvPr/>
        </p:nvSpPr>
        <p:spPr>
          <a:xfrm xmlns:a="http://schemas.openxmlformats.org/drawingml/2006/main">
            <a:off x="4600575"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Web workspace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Assigned client portfolio</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Human chat and case work</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Filing calendar and evidence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Team workload and quality controls</a:t>
            </a:r>
          </a:p>
        </p:txBody>
      </p:sp>
      <p:sp>
        <p:nvSpPr>
          <p:cNvPr id="10" name="">
            <a:extLst xmlns:a="http://schemas.openxmlformats.org/drawingml/2006/main">
              <a:ext uri="{FF2B5EF4-FFF2-40B4-BE49-F238E27FC236}">
                <a16:creationId xmlns:a16="http://schemas.microsoft.com/office/drawing/2014/main" id="{07C52ED2-0F89-43AE-BB02-AC237DEF5D6B}"/>
              </a:ext>
            </a:extLst>
          </p:cNvPr>
          <p:cNvSpPr>
            <a:spLocks xmlns:a="http://schemas.openxmlformats.org/drawingml/2006/main" noGrp="1"/>
          </p:cNvSpPr>
          <p:nvPr/>
        </p:nvSpPr>
        <p:spPr>
          <a:xfrm xmlns:a="http://schemas.openxmlformats.org/drawingml/2006/main">
            <a:off x="830580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0467A5BC-C96A-4AD8-B02B-B410C91A9DB8}"/>
              </a:ext>
            </a:extLst>
          </p:cNvPr>
          <p:cNvSpPr>
            <a:spLocks xmlns:a="http://schemas.openxmlformats.org/drawingml/2006/main" noGrp="1"/>
          </p:cNvSpPr>
          <p:nvPr/>
        </p:nvSpPr>
        <p:spPr>
          <a:xfrm xmlns:a="http://schemas.openxmlformats.org/drawingml/2006/main">
            <a:off x="847725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03  MySect admin</a:t>
            </a:r>
          </a:p>
        </p:txBody>
      </p:sp>
      <p:sp>
        <p:nvSpPr>
          <p:cNvPr id="12" name="">
            <a:extLst xmlns:a="http://schemas.openxmlformats.org/drawingml/2006/main">
              <a:ext uri="{FF2B5EF4-FFF2-40B4-BE49-F238E27FC236}">
                <a16:creationId xmlns:a16="http://schemas.microsoft.com/office/drawing/2014/main" id="{668149B9-9A67-4FF4-98F2-0863BF5C950C}"/>
              </a:ext>
            </a:extLst>
          </p:cNvPr>
          <p:cNvSpPr>
            <a:spLocks xmlns:a="http://schemas.openxmlformats.org/drawingml/2006/main" noGrp="1"/>
          </p:cNvSpPr>
          <p:nvPr/>
        </p:nvSpPr>
        <p:spPr>
          <a:xfrm xmlns:a="http://schemas.openxmlformats.org/drawingml/2006/main">
            <a:off x="847725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Admin console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Tenants, firms, users and plans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Escalation and SLA monitoring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Audit, security and reporting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Configuration and support</a:t>
            </a:r>
          </a:p>
        </p:txBody>
      </p:sp>
      <p:sp>
        <p:nvSpPr>
          <p:cNvPr id="13" name="">
            <a:extLst xmlns:a="http://schemas.openxmlformats.org/drawingml/2006/main">
              <a:ext uri="{FF2B5EF4-FFF2-40B4-BE49-F238E27FC236}">
                <a16:creationId xmlns:a16="http://schemas.microsoft.com/office/drawing/2014/main" id="{64804ACC-0499-4267-903C-4176B0A464F1}"/>
              </a:ext>
            </a:extLst>
          </p:cNvPr>
          <p:cNvSpPr>
            <a:spLocks xmlns:a="http://schemas.openxmlformats.org/drawingml/2006/main" noGrp="1"/>
          </p:cNvSpPr>
          <p:nvPr/>
        </p:nvSpPr>
        <p:spPr>
          <a:xfrm xmlns:a="http://schemas.openxmlformats.org/drawingml/2006/main">
            <a:off x="1238250" y="5048250"/>
            <a:ext cx="971550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The commercial value is not “another chat app”. It is a traceable workflow that turns a customer request into an owned, reviewable company-secretary case.</a:t>
            </a:r>
          </a:p>
        </p:txBody>
      </p:sp>
    </p:spTree>
    <p:extLst>
      <p:ext uri="{BB962C8B-B14F-4D97-AF65-F5344CB8AC3E}">
        <p14:creationId xmlns:p14="http://schemas.microsoft.com/office/powerpoint/2010/main" val="20999215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4D648B-1A72-483E-AAD8-36AD51ABAAED}"/>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19032DD4-FA84-4BA4-A8A4-99D39426FEAA}"/>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Recommended architecture and trust boundaries</a:t>
            </a:r>
          </a:p>
        </p:txBody>
      </p:sp>
      <p:sp>
        <p:nvSpPr>
          <p:cNvPr id="3" name="">
            <a:extLst xmlns:a="http://schemas.openxmlformats.org/drawingml/2006/main">
              <a:ext uri="{FF2B5EF4-FFF2-40B4-BE49-F238E27FC236}">
                <a16:creationId xmlns:a16="http://schemas.microsoft.com/office/drawing/2014/main" id="{C5CE1952-6177-4567-8C6F-A1A9859981AE}"/>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99719D6F-EDE1-4841-AB0B-C6DF747D187A}"/>
              </a:ext>
            </a:extLst>
          </p:cNvPr>
          <p:cNvSpPr>
            <a:spLocks xmlns:a="http://schemas.openxmlformats.org/drawingml/2006/main" noGrp="1"/>
          </p:cNvSpPr>
          <p:nvPr/>
        </p:nvSpPr>
        <p:spPr>
          <a:xfrm xmlns:a="http://schemas.openxmlformats.org/drawingml/2006/main">
            <a:off x="619125" y="1476375"/>
            <a:ext cx="10953750" cy="6477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Flutter customer app        Secretary web        MySect admin web</a:t>
            </a:r>
          </a:p>
        </p:txBody>
      </p:sp>
      <p:sp>
        <p:nvSpPr>
          <p:cNvPr id="5" name="">
            <a:extLst xmlns:a="http://schemas.openxmlformats.org/drawingml/2006/main">
              <a:ext uri="{FF2B5EF4-FFF2-40B4-BE49-F238E27FC236}">
                <a16:creationId xmlns:a16="http://schemas.microsoft.com/office/drawing/2014/main" id="{569221E5-C582-42FB-BEDE-BACBD7C373D8}"/>
              </a:ext>
            </a:extLst>
          </p:cNvPr>
          <p:cNvSpPr>
            <a:spLocks xmlns:a="http://schemas.openxmlformats.org/drawingml/2006/main" noGrp="1"/>
          </p:cNvSpPr>
          <p:nvPr/>
        </p:nvSpPr>
        <p:spPr>
          <a:xfrm xmlns:a="http://schemas.openxmlformats.org/drawingml/2006/main">
            <a:off x="619125" y="2571750"/>
            <a:ext cx="10953750" cy="6667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API gateway / authentication / tenant and permission checks</a:t>
            </a:r>
          </a:p>
        </p:txBody>
      </p:sp>
      <p:sp>
        <p:nvSpPr>
          <p:cNvPr id="6" name="">
            <a:extLst xmlns:a="http://schemas.openxmlformats.org/drawingml/2006/main">
              <a:ext uri="{FF2B5EF4-FFF2-40B4-BE49-F238E27FC236}">
                <a16:creationId xmlns:a16="http://schemas.microsoft.com/office/drawing/2014/main" id="{9DE5CC01-CC73-4741-88FA-707DD21583C2}"/>
              </a:ext>
            </a:extLst>
          </p:cNvPr>
          <p:cNvSpPr>
            <a:spLocks xmlns:a="http://schemas.openxmlformats.org/drawingml/2006/main" noGrp="1"/>
          </p:cNvSpPr>
          <p:nvPr/>
        </p:nvSpPr>
        <p:spPr>
          <a:xfrm xmlns:a="http://schemas.openxmlformats.org/drawingml/2006/main">
            <a:off x="6191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Cases &amp; chat</a:t>
            </a:r>
          </a:p>
        </p:txBody>
      </p:sp>
      <p:sp>
        <p:nvSpPr>
          <p:cNvPr id="7" name="">
            <a:extLst xmlns:a="http://schemas.openxmlformats.org/drawingml/2006/main">
              <a:ext uri="{FF2B5EF4-FFF2-40B4-BE49-F238E27FC236}">
                <a16:creationId xmlns:a16="http://schemas.microsoft.com/office/drawing/2014/main" id="{0FD3455F-7C53-4DDA-B2C6-45D052B2791D}"/>
              </a:ext>
            </a:extLst>
          </p:cNvPr>
          <p:cNvSpPr>
            <a:spLocks xmlns:a="http://schemas.openxmlformats.org/drawingml/2006/main" noGrp="1"/>
          </p:cNvSpPr>
          <p:nvPr/>
        </p:nvSpPr>
        <p:spPr>
          <a:xfrm xmlns:a="http://schemas.openxmlformats.org/drawingml/2006/main">
            <a:off x="285750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Documents</a:t>
            </a:r>
          </a:p>
        </p:txBody>
      </p:sp>
      <p:sp>
        <p:nvSpPr>
          <p:cNvPr id="8" name="">
            <a:extLst xmlns:a="http://schemas.openxmlformats.org/drawingml/2006/main">
              <a:ext uri="{FF2B5EF4-FFF2-40B4-BE49-F238E27FC236}">
                <a16:creationId xmlns:a16="http://schemas.microsoft.com/office/drawing/2014/main" id="{191F9634-2E07-4F72-B2AA-FCEF952EAB20}"/>
              </a:ext>
            </a:extLst>
          </p:cNvPr>
          <p:cNvSpPr>
            <a:spLocks xmlns:a="http://schemas.openxmlformats.org/drawingml/2006/main" noGrp="1"/>
          </p:cNvSpPr>
          <p:nvPr/>
        </p:nvSpPr>
        <p:spPr>
          <a:xfrm xmlns:a="http://schemas.openxmlformats.org/drawingml/2006/main">
            <a:off x="509587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Compliance</a:t>
            </a:r>
          </a:p>
        </p:txBody>
      </p:sp>
      <p:sp>
        <p:nvSpPr>
          <p:cNvPr id="9" name="">
            <a:extLst xmlns:a="http://schemas.openxmlformats.org/drawingml/2006/main">
              <a:ext uri="{FF2B5EF4-FFF2-40B4-BE49-F238E27FC236}">
                <a16:creationId xmlns:a16="http://schemas.microsoft.com/office/drawing/2014/main" id="{FE448292-0D51-4579-BFE3-E95D3A0A77A3}"/>
              </a:ext>
            </a:extLst>
          </p:cNvPr>
          <p:cNvSpPr>
            <a:spLocks xmlns:a="http://schemas.openxmlformats.org/drawingml/2006/main" noGrp="1"/>
          </p:cNvSpPr>
          <p:nvPr/>
        </p:nvSpPr>
        <p:spPr>
          <a:xfrm xmlns:a="http://schemas.openxmlformats.org/drawingml/2006/main">
            <a:off x="733425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Billing</a:t>
            </a:r>
          </a:p>
        </p:txBody>
      </p:sp>
      <p:sp>
        <p:nvSpPr>
          <p:cNvPr id="10" name="">
            <a:extLst xmlns:a="http://schemas.openxmlformats.org/drawingml/2006/main">
              <a:ext uri="{FF2B5EF4-FFF2-40B4-BE49-F238E27FC236}">
                <a16:creationId xmlns:a16="http://schemas.microsoft.com/office/drawing/2014/main" id="{EC0AD2CC-D3A9-48A5-8E01-9A6F7A69C528}"/>
              </a:ext>
            </a:extLst>
          </p:cNvPr>
          <p:cNvSpPr>
            <a:spLocks xmlns:a="http://schemas.openxmlformats.org/drawingml/2006/main" noGrp="1"/>
          </p:cNvSpPr>
          <p:nvPr/>
        </p:nvSpPr>
        <p:spPr>
          <a:xfrm xmlns:a="http://schemas.openxmlformats.org/drawingml/2006/main">
            <a:off x="95726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orchestration</a:t>
            </a:r>
          </a:p>
        </p:txBody>
      </p:sp>
      <p:sp>
        <p:nvSpPr>
          <p:cNvPr id="11" name="">
            <a:extLst xmlns:a="http://schemas.openxmlformats.org/drawingml/2006/main">
              <a:ext uri="{FF2B5EF4-FFF2-40B4-BE49-F238E27FC236}">
                <a16:creationId xmlns:a16="http://schemas.microsoft.com/office/drawing/2014/main" id="{7BE7C252-1BDC-4D56-B8CA-207F689FBE50}"/>
              </a:ext>
            </a:extLst>
          </p:cNvPr>
          <p:cNvSpPr>
            <a:spLocks xmlns:a="http://schemas.openxmlformats.org/drawingml/2006/main" noGrp="1"/>
          </p:cNvSpPr>
          <p:nvPr/>
        </p:nvSpPr>
        <p:spPr>
          <a:xfrm xmlns:a="http://schemas.openxmlformats.org/drawingml/2006/main">
            <a:off x="619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PostgreSQL</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users, companies, assignments, cases, audit events</a:t>
            </a:r>
          </a:p>
        </p:txBody>
      </p:sp>
      <p:sp>
        <p:nvSpPr>
          <p:cNvPr id="12" name="">
            <a:extLst xmlns:a="http://schemas.openxmlformats.org/drawingml/2006/main">
              <a:ext uri="{FF2B5EF4-FFF2-40B4-BE49-F238E27FC236}">
                <a16:creationId xmlns:a16="http://schemas.microsoft.com/office/drawing/2014/main" id="{226C15F1-6572-4ED4-A882-933FC70D9BF9}"/>
              </a:ext>
            </a:extLst>
          </p:cNvPr>
          <p:cNvSpPr>
            <a:spLocks xmlns:a="http://schemas.openxmlformats.org/drawingml/2006/main" noGrp="1"/>
          </p:cNvSpPr>
          <p:nvPr/>
        </p:nvSpPr>
        <p:spPr>
          <a:xfrm xmlns:a="http://schemas.openxmlformats.org/drawingml/2006/main">
            <a:off x="6334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TM Cloud Object Storage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original files, versions, retention, signed downloads</a:t>
            </a:r>
          </a:p>
        </p:txBody>
      </p:sp>
    </p:spTree>
    <p:extLst>
      <p:ext uri="{BB962C8B-B14F-4D97-AF65-F5344CB8AC3E}">
        <p14:creationId xmlns:p14="http://schemas.microsoft.com/office/powerpoint/2010/main" val="7005705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AF34DE4-AA9A-49F1-8FAC-2222F699DC59}"/>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C617D04A-C4D7-4656-85A1-DD7F72380F29}"/>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Customer support should be AI-first, not human-chat-first</a:t>
            </a:r>
          </a:p>
        </p:txBody>
      </p:sp>
      <p:sp>
        <p:nvSpPr>
          <p:cNvPr id="3" name="">
            <a:extLst xmlns:a="http://schemas.openxmlformats.org/drawingml/2006/main">
              <a:ext uri="{FF2B5EF4-FFF2-40B4-BE49-F238E27FC236}">
                <a16:creationId xmlns:a16="http://schemas.microsoft.com/office/drawing/2014/main" id="{6F6867BD-E231-4EE6-AB65-FC836B44D8EC}"/>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601481F1-62D3-4A39-A94F-EF77064E8C05}"/>
              </a:ext>
            </a:extLst>
          </p:cNvPr>
          <p:cNvSpPr>
            <a:spLocks xmlns:a="http://schemas.openxmlformats.org/drawingml/2006/main" noGrp="1"/>
          </p:cNvSpPr>
          <p:nvPr/>
        </p:nvSpPr>
        <p:spPr>
          <a:xfrm xmlns:a="http://schemas.openxmlformats.org/drawingml/2006/main">
            <a:off x="552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58DA1C7-B6ED-4A7B-B62E-03D0CD47A5F8}"/>
              </a:ext>
            </a:extLst>
          </p:cNvPr>
          <p:cNvSpPr>
            <a:spLocks xmlns:a="http://schemas.openxmlformats.org/drawingml/2006/main" noGrp="1"/>
          </p:cNvSpPr>
          <p:nvPr/>
        </p:nvSpPr>
        <p:spPr>
          <a:xfrm xmlns:a="http://schemas.openxmlformats.org/drawingml/2006/main">
            <a:off x="1200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asks AI</a:t>
            </a:r>
          </a:p>
        </p:txBody>
      </p:sp>
      <p:sp>
        <p:nvSpPr>
          <p:cNvPr id="6" name="">
            <a:extLst xmlns:a="http://schemas.openxmlformats.org/drawingml/2006/main">
              <a:ext uri="{FF2B5EF4-FFF2-40B4-BE49-F238E27FC236}">
                <a16:creationId xmlns:a16="http://schemas.microsoft.com/office/drawing/2014/main" id="{C6A64351-5B61-4D90-9D96-8CD8252DD531}"/>
              </a:ext>
            </a:extLst>
          </p:cNvPr>
          <p:cNvSpPr>
            <a:spLocks xmlns:a="http://schemas.openxmlformats.org/drawingml/2006/main" noGrp="1"/>
          </p:cNvSpPr>
          <p:nvPr/>
        </p:nvSpPr>
        <p:spPr>
          <a:xfrm xmlns:a="http://schemas.openxmlformats.org/drawingml/2006/main">
            <a:off x="1200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AI identifies intent, company context, urgency and missing information.</a:t>
            </a:r>
          </a:p>
        </p:txBody>
      </p:sp>
      <p:sp>
        <p:nvSpPr>
          <p:cNvPr id="7" name="">
            <a:extLst xmlns:a="http://schemas.openxmlformats.org/drawingml/2006/main">
              <a:ext uri="{FF2B5EF4-FFF2-40B4-BE49-F238E27FC236}">
                <a16:creationId xmlns:a16="http://schemas.microsoft.com/office/drawing/2014/main" id="{23B84ABA-3419-4209-B549-7122A5BDB5C0}"/>
              </a:ext>
            </a:extLst>
          </p:cNvPr>
          <p:cNvSpPr>
            <a:spLocks xmlns:a="http://schemas.openxmlformats.org/drawingml/2006/main" noGrp="1"/>
          </p:cNvSpPr>
          <p:nvPr/>
        </p:nvSpPr>
        <p:spPr>
          <a:xfrm xmlns:a="http://schemas.openxmlformats.org/drawingml/2006/main">
            <a:off x="3409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432C505B-2171-4107-89C8-E5A2F08B4FB6}"/>
              </a:ext>
            </a:extLst>
          </p:cNvPr>
          <p:cNvSpPr>
            <a:spLocks xmlns:a="http://schemas.openxmlformats.org/drawingml/2006/main" noGrp="1"/>
          </p:cNvSpPr>
          <p:nvPr/>
        </p:nvSpPr>
        <p:spPr>
          <a:xfrm xmlns:a="http://schemas.openxmlformats.org/drawingml/2006/main">
            <a:off x="4057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creates case</a:t>
            </a:r>
          </a:p>
        </p:txBody>
      </p:sp>
      <p:sp>
        <p:nvSpPr>
          <p:cNvPr id="9" name="">
            <a:extLst xmlns:a="http://schemas.openxmlformats.org/drawingml/2006/main">
              <a:ext uri="{FF2B5EF4-FFF2-40B4-BE49-F238E27FC236}">
                <a16:creationId xmlns:a16="http://schemas.microsoft.com/office/drawing/2014/main" id="{3AE55FF6-0452-48FD-AF5D-EE039BB357F0}"/>
              </a:ext>
            </a:extLst>
          </p:cNvPr>
          <p:cNvSpPr>
            <a:spLocks xmlns:a="http://schemas.openxmlformats.org/drawingml/2006/main" noGrp="1"/>
          </p:cNvSpPr>
          <p:nvPr/>
        </p:nvSpPr>
        <p:spPr>
          <a:xfrm xmlns:a="http://schemas.openxmlformats.org/drawingml/2006/main">
            <a:off x="4057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Structured summary, category, priority, suggested next action and evidence checklist.</a:t>
            </a:r>
          </a:p>
        </p:txBody>
      </p:sp>
      <p:sp>
        <p:nvSpPr>
          <p:cNvPr id="10" name="">
            <a:extLst xmlns:a="http://schemas.openxmlformats.org/drawingml/2006/main">
              <a:ext uri="{FF2B5EF4-FFF2-40B4-BE49-F238E27FC236}">
                <a16:creationId xmlns:a16="http://schemas.microsoft.com/office/drawing/2014/main" id="{632FE7D9-58E1-49C4-8820-83B6E0FD41EB}"/>
              </a:ext>
            </a:extLst>
          </p:cNvPr>
          <p:cNvSpPr>
            <a:spLocks xmlns:a="http://schemas.openxmlformats.org/drawingml/2006/main" noGrp="1"/>
          </p:cNvSpPr>
          <p:nvPr/>
        </p:nvSpPr>
        <p:spPr>
          <a:xfrm xmlns:a="http://schemas.openxmlformats.org/drawingml/2006/main">
            <a:off x="6267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46CF2B3A-0932-4623-8B4B-FDDD39563336}"/>
              </a:ext>
            </a:extLst>
          </p:cNvPr>
          <p:cNvSpPr>
            <a:spLocks xmlns:a="http://schemas.openxmlformats.org/drawingml/2006/main" noGrp="1"/>
          </p:cNvSpPr>
          <p:nvPr/>
        </p:nvSpPr>
        <p:spPr>
          <a:xfrm xmlns:a="http://schemas.openxmlformats.org/drawingml/2006/main">
            <a:off x="6915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Secretary notified</a:t>
            </a:r>
          </a:p>
        </p:txBody>
      </p:sp>
      <p:sp>
        <p:nvSpPr>
          <p:cNvPr id="12" name="">
            <a:extLst xmlns:a="http://schemas.openxmlformats.org/drawingml/2006/main">
              <a:ext uri="{FF2B5EF4-FFF2-40B4-BE49-F238E27FC236}">
                <a16:creationId xmlns:a16="http://schemas.microsoft.com/office/drawing/2014/main" id="{D02C1FA4-25E2-4BE1-8D74-545909279618}"/>
              </a:ext>
            </a:extLst>
          </p:cNvPr>
          <p:cNvSpPr>
            <a:spLocks xmlns:a="http://schemas.openxmlformats.org/drawingml/2006/main" noGrp="1"/>
          </p:cNvSpPr>
          <p:nvPr/>
        </p:nvSpPr>
        <p:spPr>
          <a:xfrm xmlns:a="http://schemas.openxmlformats.org/drawingml/2006/main">
            <a:off x="6915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case appears in the firm queue with SLA and full AI transcript.</a:t>
            </a:r>
          </a:p>
        </p:txBody>
      </p:sp>
      <p:sp>
        <p:nvSpPr>
          <p:cNvPr id="13" name="">
            <a:extLst xmlns:a="http://schemas.openxmlformats.org/drawingml/2006/main">
              <a:ext uri="{FF2B5EF4-FFF2-40B4-BE49-F238E27FC236}">
                <a16:creationId xmlns:a16="http://schemas.microsoft.com/office/drawing/2014/main" id="{A33437AD-5222-4E22-9596-221A90A31231}"/>
              </a:ext>
            </a:extLst>
          </p:cNvPr>
          <p:cNvSpPr>
            <a:spLocks xmlns:a="http://schemas.openxmlformats.org/drawingml/2006/main" noGrp="1"/>
          </p:cNvSpPr>
          <p:nvPr/>
        </p:nvSpPr>
        <p:spPr>
          <a:xfrm xmlns:a="http://schemas.openxmlformats.org/drawingml/2006/main">
            <a:off x="9124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F1C72953-17A7-4481-8D37-4E3A86BFE50A}"/>
              </a:ext>
            </a:extLst>
          </p:cNvPr>
          <p:cNvSpPr>
            <a:spLocks xmlns:a="http://schemas.openxmlformats.org/drawingml/2006/main" noGrp="1"/>
          </p:cNvSpPr>
          <p:nvPr/>
        </p:nvSpPr>
        <p:spPr>
          <a:xfrm xmlns:a="http://schemas.openxmlformats.org/drawingml/2006/main">
            <a:off x="9772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Human chat opens</a:t>
            </a:r>
          </a:p>
        </p:txBody>
      </p:sp>
      <p:sp>
        <p:nvSpPr>
          <p:cNvPr id="15" name="">
            <a:extLst xmlns:a="http://schemas.openxmlformats.org/drawingml/2006/main">
              <a:ext uri="{FF2B5EF4-FFF2-40B4-BE49-F238E27FC236}">
                <a16:creationId xmlns:a16="http://schemas.microsoft.com/office/drawing/2014/main" id="{3E984123-7995-4829-87E3-41A1A55E3C4E}"/>
              </a:ext>
            </a:extLst>
          </p:cNvPr>
          <p:cNvSpPr>
            <a:spLocks xmlns:a="http://schemas.openxmlformats.org/drawingml/2006/main" noGrp="1"/>
          </p:cNvSpPr>
          <p:nvPr/>
        </p:nvSpPr>
        <p:spPr>
          <a:xfrm xmlns:a="http://schemas.openxmlformats.org/drawingml/2006/main">
            <a:off x="9772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Only an assigned secretary starts the human conversation when work or judgment is required.</a:t>
            </a:r>
          </a:p>
        </p:txBody>
      </p:sp>
      <p:sp>
        <p:nvSpPr>
          <p:cNvPr id="16" name="">
            <a:extLst xmlns:a="http://schemas.openxmlformats.org/drawingml/2006/main">
              <a:ext uri="{FF2B5EF4-FFF2-40B4-BE49-F238E27FC236}">
                <a16:creationId xmlns:a16="http://schemas.microsoft.com/office/drawing/2014/main" id="{D6CB71D6-047C-4D21-B873-856AC80592A0}"/>
              </a:ext>
            </a:extLst>
          </p:cNvPr>
          <p:cNvSpPr>
            <a:spLocks xmlns:a="http://schemas.openxmlformats.org/drawingml/2006/main" noGrp="1"/>
          </p:cNvSpPr>
          <p:nvPr/>
        </p:nvSpPr>
        <p:spPr>
          <a:xfrm xmlns:a="http://schemas.openxmlformats.org/drawingml/2006/main">
            <a:off x="666750" y="4000500"/>
            <a:ext cx="108585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Guardrails: no legal conclusion without review; no filing submission without an authorized human; no direct public file URLs; every AI action and handoff is logged.</a:t>
            </a:r>
          </a:p>
        </p:txBody>
      </p:sp>
      <p:sp>
        <p:nvSpPr>
          <p:cNvPr id="17" name="">
            <a:extLst xmlns:a="http://schemas.openxmlformats.org/drawingml/2006/main">
              <a:ext uri="{FF2B5EF4-FFF2-40B4-BE49-F238E27FC236}">
                <a16:creationId xmlns:a16="http://schemas.microsoft.com/office/drawing/2014/main" id="{5FBD698C-10E1-431B-9831-C61D846C6C6B}"/>
              </a:ext>
            </a:extLst>
          </p:cNvPr>
          <p:cNvSpPr>
            <a:spLocks xmlns:a="http://schemas.openxmlformats.org/drawingml/2006/main" noGrp="1"/>
          </p:cNvSpPr>
          <p:nvPr/>
        </p:nvSpPr>
        <p:spPr>
          <a:xfrm xmlns:a="http://schemas.openxmlformats.org/drawingml/2006/main">
            <a:off x="742950" y="5476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Design principle: AI reduces intake and repetition; it does not replace secretary accountability.</a:t>
            </a:r>
          </a:p>
        </p:txBody>
      </p:sp>
    </p:spTree>
    <p:extLst>
      <p:ext uri="{BB962C8B-B14F-4D97-AF65-F5344CB8AC3E}">
        <p14:creationId xmlns:p14="http://schemas.microsoft.com/office/powerpoint/2010/main" val="1126439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3BE0F7-05C4-43FC-A710-AF90F2595CC2}"/>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8D74EE06-A9CC-4FD4-9564-8BF719DAAFCA}"/>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Deployment: keep Windows Server, run Linux containers safely</a:t>
            </a:r>
          </a:p>
        </p:txBody>
      </p:sp>
      <p:sp>
        <p:nvSpPr>
          <p:cNvPr id="3" name="">
            <a:extLst xmlns:a="http://schemas.openxmlformats.org/drawingml/2006/main">
              <a:ext uri="{FF2B5EF4-FFF2-40B4-BE49-F238E27FC236}">
                <a16:creationId xmlns:a16="http://schemas.microsoft.com/office/drawing/2014/main" id="{F396D700-4616-4EF0-92B7-68762F74BAAC}"/>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3FAF24B-450F-40E9-AF29-8FB496031E7A}"/>
              </a:ext>
            </a:extLst>
          </p:cNvPr>
          <p:cNvSpPr>
            <a:spLocks xmlns:a="http://schemas.openxmlformats.org/drawingml/2006/main" noGrp="1"/>
          </p:cNvSpPr>
          <p:nvPr/>
        </p:nvSpPr>
        <p:spPr>
          <a:xfrm xmlns:a="http://schemas.openxmlformats.org/drawingml/2006/main">
            <a:off x="714375" y="1428750"/>
            <a:ext cx="107156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Windows Server host</a:t>
            </a:r>
          </a:p>
        </p:txBody>
      </p:sp>
      <p:sp>
        <p:nvSpPr>
          <p:cNvPr id="5" name="">
            <a:extLst xmlns:a="http://schemas.openxmlformats.org/drawingml/2006/main">
              <a:ext uri="{FF2B5EF4-FFF2-40B4-BE49-F238E27FC236}">
                <a16:creationId xmlns:a16="http://schemas.microsoft.com/office/drawing/2014/main" id="{9FD54642-9A50-42AD-90F2-FBA19E33983A}"/>
              </a:ext>
            </a:extLst>
          </p:cNvPr>
          <p:cNvSpPr>
            <a:spLocks xmlns:a="http://schemas.openxmlformats.org/drawingml/2006/main" noGrp="1"/>
          </p:cNvSpPr>
          <p:nvPr/>
        </p:nvSpPr>
        <p:spPr>
          <a:xfrm xmlns:a="http://schemas.openxmlformats.org/drawingml/2006/main">
            <a:off x="1381125" y="2476500"/>
            <a:ext cx="9382125" cy="5905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Hyper-V Linux VM  →  Docker Engine + Docker Compose</a:t>
            </a:r>
          </a:p>
        </p:txBody>
      </p:sp>
      <p:sp>
        <p:nvSpPr>
          <p:cNvPr id="6" name="">
            <a:extLst xmlns:a="http://schemas.openxmlformats.org/drawingml/2006/main">
              <a:ext uri="{FF2B5EF4-FFF2-40B4-BE49-F238E27FC236}">
                <a16:creationId xmlns:a16="http://schemas.microsoft.com/office/drawing/2014/main" id="{6241381A-F31D-484D-B2EA-258F3241542D}"/>
              </a:ext>
            </a:extLst>
          </p:cNvPr>
          <p:cNvSpPr>
            <a:spLocks xmlns:a="http://schemas.openxmlformats.org/drawingml/2006/main" noGrp="1"/>
          </p:cNvSpPr>
          <p:nvPr/>
        </p:nvSpPr>
        <p:spPr>
          <a:xfrm xmlns:a="http://schemas.openxmlformats.org/drawingml/2006/main">
            <a:off x="71437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API</a:t>
            </a:r>
          </a:p>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auth, tenant checks, cases</a:t>
            </a:r>
          </a:p>
        </p:txBody>
      </p:sp>
      <p:sp>
        <p:nvSpPr>
          <p:cNvPr id="7" name="">
            <a:extLst xmlns:a="http://schemas.openxmlformats.org/drawingml/2006/main">
              <a:ext uri="{FF2B5EF4-FFF2-40B4-BE49-F238E27FC236}">
                <a16:creationId xmlns:a16="http://schemas.microsoft.com/office/drawing/2014/main" id="{3D873FDD-D4AD-43E3-A64C-438163017B39}"/>
              </a:ext>
            </a:extLst>
          </p:cNvPr>
          <p:cNvSpPr>
            <a:spLocks xmlns:a="http://schemas.openxmlformats.org/drawingml/2006/main" noGrp="1"/>
          </p:cNvSpPr>
          <p:nvPr/>
        </p:nvSpPr>
        <p:spPr>
          <a:xfrm xmlns:a="http://schemas.openxmlformats.org/drawingml/2006/main">
            <a:off x="342900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Worker</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notifications, OCR, scheduled jobs</a:t>
            </a:r>
          </a:p>
        </p:txBody>
      </p:sp>
      <p:sp>
        <p:nvSpPr>
          <p:cNvPr id="8" name="">
            <a:extLst xmlns:a="http://schemas.openxmlformats.org/drawingml/2006/main">
              <a:ext uri="{FF2B5EF4-FFF2-40B4-BE49-F238E27FC236}">
                <a16:creationId xmlns:a16="http://schemas.microsoft.com/office/drawing/2014/main" id="{128EC630-487D-4842-9AFC-BECABA73B1E7}"/>
              </a:ext>
            </a:extLst>
          </p:cNvPr>
          <p:cNvSpPr>
            <a:spLocks xmlns:a="http://schemas.openxmlformats.org/drawingml/2006/main" noGrp="1"/>
          </p:cNvSpPr>
          <p:nvPr/>
        </p:nvSpPr>
        <p:spPr>
          <a:xfrm xmlns:a="http://schemas.openxmlformats.org/drawingml/2006/main">
            <a:off x="614362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DB</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PostgreSQL + backup</a:t>
            </a:r>
          </a:p>
        </p:txBody>
      </p:sp>
      <p:sp>
        <p:nvSpPr>
          <p:cNvPr id="9" name="">
            <a:extLst xmlns:a="http://schemas.openxmlformats.org/drawingml/2006/main">
              <a:ext uri="{FF2B5EF4-FFF2-40B4-BE49-F238E27FC236}">
                <a16:creationId xmlns:a16="http://schemas.microsoft.com/office/drawing/2014/main" id="{EB0C4014-ED38-4084-BC4D-4D04BDF4B36B}"/>
              </a:ext>
            </a:extLst>
          </p:cNvPr>
          <p:cNvSpPr>
            <a:spLocks xmlns:a="http://schemas.openxmlformats.org/drawingml/2006/main" noGrp="1"/>
          </p:cNvSpPr>
          <p:nvPr/>
        </p:nvSpPr>
        <p:spPr>
          <a:xfrm xmlns:a="http://schemas.openxmlformats.org/drawingml/2006/main">
            <a:off x="885825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Proxy</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TLS, rate limits, routing</a:t>
            </a:r>
          </a:p>
        </p:txBody>
      </p:sp>
      <p:sp>
        <p:nvSpPr>
          <p:cNvPr id="10" name="">
            <a:extLst xmlns:a="http://schemas.openxmlformats.org/drawingml/2006/main">
              <a:ext uri="{FF2B5EF4-FFF2-40B4-BE49-F238E27FC236}">
                <a16:creationId xmlns:a16="http://schemas.microsoft.com/office/drawing/2014/main" id="{18452BB0-BB2D-4E0E-972F-1D99334A90CF}"/>
              </a:ext>
            </a:extLst>
          </p:cNvPr>
          <p:cNvSpPr>
            <a:spLocks xmlns:a="http://schemas.openxmlformats.org/drawingml/2006/main" noGrp="1"/>
          </p:cNvSpPr>
          <p:nvPr/>
        </p:nvSpPr>
        <p:spPr>
          <a:xfrm xmlns:a="http://schemas.openxmlformats.org/drawingml/2006/main">
            <a:off x="1714500" y="5095875"/>
            <a:ext cx="8763000" cy="6096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TM Cloud Object Storage  |  encrypted originals  |  metadata in PostgreSQL  |  short-lived signed URLs</a:t>
            </a:r>
          </a:p>
        </p:txBody>
      </p:sp>
    </p:spTree>
    <p:extLst>
      <p:ext uri="{BB962C8B-B14F-4D97-AF65-F5344CB8AC3E}">
        <p14:creationId xmlns:p14="http://schemas.microsoft.com/office/powerpoint/2010/main" val="4063308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32A8D5-8310-4981-B671-262F749E9F0D}"/>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B13B2AA7-06B0-42DB-B307-D2CEB4E124B1}"/>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AI provider decision: start cheap, stay replaceable</a:t>
            </a:r>
          </a:p>
        </p:txBody>
      </p:sp>
      <p:sp>
        <p:nvSpPr>
          <p:cNvPr id="3" name="">
            <a:extLst xmlns:a="http://schemas.openxmlformats.org/drawingml/2006/main">
              <a:ext uri="{FF2B5EF4-FFF2-40B4-BE49-F238E27FC236}">
                <a16:creationId xmlns:a16="http://schemas.microsoft.com/office/drawing/2014/main" id="{C81B56C6-FB8C-4541-871B-6F091FFB6845}"/>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EC016C30-967D-4E0D-BDDE-BCCD94333056}"/>
              </a:ext>
            </a:extLst>
          </p:cNvPr>
          <p:cNvSpPr>
            <a:spLocks xmlns:a="http://schemas.openxmlformats.org/drawingml/2006/main" noGrp="1"/>
          </p:cNvSpPr>
          <p:nvPr/>
        </p:nvSpPr>
        <p:spPr>
          <a:xfrm xmlns:a="http://schemas.openxmlformats.org/drawingml/2006/main">
            <a:off x="590550" y="13620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07080"/>
                </a:solidFill>
                <a:latin typeface="Helvetica Neue"/>
                <a:ea typeface="Helvetica Neue"/>
                <a:cs typeface="Helvetica Neue"/>
              </a:defRPr>
            </a:pPr>
            <a:r>
              <a:rPr sz="1125" b="0" i="0">
                <a:solidFill>
                  <a:srgbClr val="607080"/>
                </a:solidFill>
                <a:latin typeface="Helvetica Neue"/>
                <a:ea typeface="Helvetica Neue"/>
                <a:cs typeface="Helvetica Neue"/>
              </a:rPr>
              <a:t>Illustrative API price per 1M tokens (USD, researched 28 Sep 2026)</a:t>
            </a:r>
          </a:p>
        </p:txBody>
      </p:sp>
      <p:sp>
        <p:nvSpPr>
          <p:cNvPr id="5" name="">
            <a:extLst xmlns:a="http://schemas.openxmlformats.org/drawingml/2006/main">
              <a:ext uri="{FF2B5EF4-FFF2-40B4-BE49-F238E27FC236}">
                <a16:creationId xmlns:a16="http://schemas.microsoft.com/office/drawing/2014/main" id="{C6E5C3F7-A2F3-40A5-B46C-26E7CC9628DC}"/>
              </a:ext>
            </a:extLst>
          </p:cNvPr>
          <p:cNvSpPr>
            <a:spLocks xmlns:a="http://schemas.openxmlformats.org/drawingml/2006/main" noGrp="1"/>
          </p:cNvSpPr>
          <p:nvPr/>
        </p:nvSpPr>
        <p:spPr>
          <a:xfrm xmlns:a="http://schemas.openxmlformats.org/drawingml/2006/main">
            <a:off x="590550" y="1857375"/>
            <a:ext cx="11049000" cy="3810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Provider / role                                      Input       Output</a:t>
            </a:r>
          </a:p>
        </p:txBody>
      </p:sp>
      <p:sp>
        <p:nvSpPr>
          <p:cNvPr id="6" name="">
            <a:extLst xmlns:a="http://schemas.openxmlformats.org/drawingml/2006/main">
              <a:ext uri="{FF2B5EF4-FFF2-40B4-BE49-F238E27FC236}">
                <a16:creationId xmlns:a16="http://schemas.microsoft.com/office/drawing/2014/main" id="{9C3238B7-44A1-418F-9488-D8B665F98112}"/>
              </a:ext>
            </a:extLst>
          </p:cNvPr>
          <p:cNvSpPr>
            <a:spLocks xmlns:a="http://schemas.openxmlformats.org/drawingml/2006/main" noGrp="1"/>
          </p:cNvSpPr>
          <p:nvPr/>
        </p:nvSpPr>
        <p:spPr>
          <a:xfrm xmlns:a="http://schemas.openxmlformats.org/drawingml/2006/main">
            <a:off x="590550" y="2286000"/>
            <a:ext cx="11049000" cy="438150"/>
          </a:xfrm>
          <a:prstGeom xmlns:a="http://schemas.openxmlformats.org/drawingml/2006/main" prst="rect">
            <a:avLst/>
          </a:prstGeom>
          <a:solidFill xmlns:a="http://schemas.openxmlformats.org/drawingml/2006/main">
            <a:srgbClr val="E7F5F4"/>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123B6D"/>
                </a:solidFill>
                <a:latin typeface="Helvetica Neue"/>
                <a:ea typeface="Helvetica Neue"/>
                <a:cs typeface="Helvetica Neue"/>
              </a:defRPr>
            </a:pPr>
            <a:r>
              <a:rPr sz="1200" b="1" i="0">
                <a:solidFill>
                  <a:srgbClr val="123B6D"/>
                </a:solidFill>
                <a:latin typeface="Helvetica Neue"/>
                <a:ea typeface="Helvetica Neue"/>
                <a:cs typeface="Helvetica Neue"/>
              </a:rPr>
              <a:t>Gemini 2.5 Flash-Lite  |  Recommended intake                                      $0.10       $0.40</a:t>
            </a:r>
          </a:p>
        </p:txBody>
      </p:sp>
      <p:sp>
        <p:nvSpPr>
          <p:cNvPr id="7" name="">
            <a:extLst xmlns:a="http://schemas.openxmlformats.org/drawingml/2006/main">
              <a:ext uri="{FF2B5EF4-FFF2-40B4-BE49-F238E27FC236}">
                <a16:creationId xmlns:a16="http://schemas.microsoft.com/office/drawing/2014/main" id="{17BE0D2B-F301-4CFF-B0D3-81A48BBB3516}"/>
              </a:ext>
            </a:extLst>
          </p:cNvPr>
          <p:cNvSpPr>
            <a:spLocks xmlns:a="http://schemas.openxmlformats.org/drawingml/2006/main" noGrp="1"/>
          </p:cNvSpPr>
          <p:nvPr/>
        </p:nvSpPr>
        <p:spPr>
          <a:xfrm xmlns:a="http://schemas.openxmlformats.org/drawingml/2006/main">
            <a:off x="590550" y="28003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OpenAI GPT-6 Luna  |  Strong fallback                                      $0.10       $0.50</a:t>
            </a:r>
          </a:p>
        </p:txBody>
      </p:sp>
      <p:sp>
        <p:nvSpPr>
          <p:cNvPr id="8" name="">
            <a:extLst xmlns:a="http://schemas.openxmlformats.org/drawingml/2006/main">
              <a:ext uri="{FF2B5EF4-FFF2-40B4-BE49-F238E27FC236}">
                <a16:creationId xmlns:a16="http://schemas.microsoft.com/office/drawing/2014/main" id="{44267006-8686-4F21-AA31-029DF8CBC867}"/>
              </a:ext>
            </a:extLst>
          </p:cNvPr>
          <p:cNvSpPr>
            <a:spLocks xmlns:a="http://schemas.openxmlformats.org/drawingml/2006/main" noGrp="1"/>
          </p:cNvSpPr>
          <p:nvPr/>
        </p:nvSpPr>
        <p:spPr>
          <a:xfrm xmlns:a="http://schemas.openxmlformats.org/drawingml/2006/main">
            <a:off x="590550" y="3314700"/>
            <a:ext cx="11049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Mistral Small 4  |  Good alternative                                      $0.15       $0.60</a:t>
            </a:r>
          </a:p>
        </p:txBody>
      </p:sp>
      <p:sp>
        <p:nvSpPr>
          <p:cNvPr id="9" name="">
            <a:extLst xmlns:a="http://schemas.openxmlformats.org/drawingml/2006/main">
              <a:ext uri="{FF2B5EF4-FFF2-40B4-BE49-F238E27FC236}">
                <a16:creationId xmlns:a16="http://schemas.microsoft.com/office/drawing/2014/main" id="{CD2AEFC4-6432-459D-961F-1F50CD2DD826}"/>
              </a:ext>
            </a:extLst>
          </p:cNvPr>
          <p:cNvSpPr>
            <a:spLocks xmlns:a="http://schemas.openxmlformats.org/drawingml/2006/main" noGrp="1"/>
          </p:cNvSpPr>
          <p:nvPr/>
        </p:nvSpPr>
        <p:spPr>
          <a:xfrm xmlns:a="http://schemas.openxmlformats.org/drawingml/2006/main">
            <a:off x="590550" y="38290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DeepSeek Flash  |  Cost option; review data terms                                      $0.15–0.30       $0.60–1.20</a:t>
            </a:r>
          </a:p>
        </p:txBody>
      </p:sp>
      <p:sp>
        <p:nvSpPr>
          <p:cNvPr id="10" name="">
            <a:extLst xmlns:a="http://schemas.openxmlformats.org/drawingml/2006/main">
              <a:ext uri="{FF2B5EF4-FFF2-40B4-BE49-F238E27FC236}">
                <a16:creationId xmlns:a16="http://schemas.microsoft.com/office/drawing/2014/main" id="{983FABDB-449E-451E-8F8B-EE2BF1CF02DC}"/>
              </a:ext>
            </a:extLst>
          </p:cNvPr>
          <p:cNvSpPr>
            <a:spLocks xmlns:a="http://schemas.openxmlformats.org/drawingml/2006/main" noGrp="1"/>
          </p:cNvSpPr>
          <p:nvPr/>
        </p:nvSpPr>
        <p:spPr>
          <a:xfrm xmlns:a="http://schemas.openxmlformats.org/drawingml/2006/main">
            <a:off x="714375" y="4762500"/>
            <a:ext cx="10715625" cy="8096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Example: 10,000 AI conversations/month at 4,000 input + 800 output tokens each ≈ $7–$11/month for the listed low-cost models before OCR, storage and engineering.</a:t>
            </a:r>
          </a:p>
        </p:txBody>
      </p:sp>
    </p:spTree>
    <p:extLst>
      <p:ext uri="{BB962C8B-B14F-4D97-AF65-F5344CB8AC3E}">
        <p14:creationId xmlns:p14="http://schemas.microsoft.com/office/powerpoint/2010/main" val="6736035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DA40F1-D4B7-4841-8527-ED95DE38882B}"/>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E46A6F38-CAED-40AB-A7EC-D67EFE0FE570}"/>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 billing relationships, kept operationally separate</a:t>
            </a:r>
          </a:p>
        </p:txBody>
      </p:sp>
      <p:sp>
        <p:nvSpPr>
          <p:cNvPr id="3" name="">
            <a:extLst xmlns:a="http://schemas.openxmlformats.org/drawingml/2006/main">
              <a:ext uri="{FF2B5EF4-FFF2-40B4-BE49-F238E27FC236}">
                <a16:creationId xmlns:a16="http://schemas.microsoft.com/office/drawing/2014/main" id="{6638DC60-36E7-4F10-B07C-8F9D2D976EFE}"/>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B366EF71-169E-46E7-8DD0-6EF048FA6838}"/>
              </a:ext>
            </a:extLst>
          </p:cNvPr>
          <p:cNvSpPr>
            <a:spLocks xmlns:a="http://schemas.openxmlformats.org/drawingml/2006/main" noGrp="1"/>
          </p:cNvSpPr>
          <p:nvPr/>
        </p:nvSpPr>
        <p:spPr>
          <a:xfrm xmlns:a="http://schemas.openxmlformats.org/drawingml/2006/main">
            <a:off x="666750" y="1476375"/>
            <a:ext cx="4762500" cy="6858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MySect Admin</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Secretary Firm</a:t>
            </a:r>
          </a:p>
        </p:txBody>
      </p:sp>
      <p:sp>
        <p:nvSpPr>
          <p:cNvPr id="5" name="">
            <a:extLst xmlns:a="http://schemas.openxmlformats.org/drawingml/2006/main">
              <a:ext uri="{FF2B5EF4-FFF2-40B4-BE49-F238E27FC236}">
                <a16:creationId xmlns:a16="http://schemas.microsoft.com/office/drawing/2014/main" id="{47F3751B-1D2C-47ED-9490-1FF5FCDC5FEE}"/>
              </a:ext>
            </a:extLst>
          </p:cNvPr>
          <p:cNvSpPr>
            <a:spLocks xmlns:a="http://schemas.openxmlformats.org/drawingml/2006/main" noGrp="1"/>
          </p:cNvSpPr>
          <p:nvPr/>
        </p:nvSpPr>
        <p:spPr>
          <a:xfrm xmlns:a="http://schemas.openxmlformats.org/drawingml/2006/main">
            <a:off x="6762750" y="1476375"/>
            <a:ext cx="4762500" cy="6858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Secretary Firm</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Customer Company</a:t>
            </a:r>
          </a:p>
        </p:txBody>
      </p:sp>
      <p:sp>
        <p:nvSpPr>
          <p:cNvPr id="6" name="">
            <a:extLst xmlns:a="http://schemas.openxmlformats.org/drawingml/2006/main">
              <a:ext uri="{FF2B5EF4-FFF2-40B4-BE49-F238E27FC236}">
                <a16:creationId xmlns:a16="http://schemas.microsoft.com/office/drawing/2014/main" id="{822294D9-76EA-4648-8484-D570678AB593}"/>
              </a:ext>
            </a:extLst>
          </p:cNvPr>
          <p:cNvSpPr>
            <a:spLocks xmlns:a="http://schemas.openxmlformats.org/drawingml/2006/main" noGrp="1"/>
          </p:cNvSpPr>
          <p:nvPr/>
        </p:nvSpPr>
        <p:spPr>
          <a:xfrm xmlns:a="http://schemas.openxmlformats.org/drawingml/2006/main">
            <a:off x="666750" y="2571750"/>
            <a:ext cx="4762500" cy="1809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Platform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Starter / Growth / Professional</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Seats, companies, AI and storage limits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MySect invoice, payment status and entitlements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Grace period and suspension rules</a:t>
            </a:r>
          </a:p>
        </p:txBody>
      </p:sp>
      <p:sp>
        <p:nvSpPr>
          <p:cNvPr id="7" name="">
            <a:extLst xmlns:a="http://schemas.openxmlformats.org/drawingml/2006/main">
              <a:ext uri="{FF2B5EF4-FFF2-40B4-BE49-F238E27FC236}">
                <a16:creationId xmlns:a16="http://schemas.microsoft.com/office/drawing/2014/main" id="{90E9E107-D052-4413-8402-2700E6135157}"/>
              </a:ext>
            </a:extLst>
          </p:cNvPr>
          <p:cNvSpPr>
            <a:spLocks xmlns:a="http://schemas.openxmlformats.org/drawingml/2006/main" noGrp="1"/>
          </p:cNvSpPr>
          <p:nvPr/>
        </p:nvSpPr>
        <p:spPr>
          <a:xfrm xmlns:a="http://schemas.openxmlformats.org/drawingml/2006/main">
            <a:off x="6762750" y="2571750"/>
            <a:ext cx="4762500" cy="1809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Professional service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Firm-defined package and price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Customer agreement and service invoice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 owns refund, cancellation and dispute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One-off filing/government fees stay visible</a:t>
            </a:r>
          </a:p>
        </p:txBody>
      </p:sp>
      <p:sp>
        <p:nvSpPr>
          <p:cNvPr id="8" name="">
            <a:extLst xmlns:a="http://schemas.openxmlformats.org/drawingml/2006/main">
              <a:ext uri="{FF2B5EF4-FFF2-40B4-BE49-F238E27FC236}">
                <a16:creationId xmlns:a16="http://schemas.microsoft.com/office/drawing/2014/main" id="{3DC2CB91-F8AD-487C-BF07-F376F718FE9C}"/>
              </a:ext>
            </a:extLst>
          </p:cNvPr>
          <p:cNvSpPr>
            <a:spLocks xmlns:a="http://schemas.openxmlformats.org/drawingml/2006/main" noGrp="1"/>
          </p:cNvSpPr>
          <p:nvPr/>
        </p:nvSpPr>
        <p:spPr>
          <a:xfrm xmlns:a="http://schemas.openxmlformats.org/drawingml/2006/main">
            <a:off x="1619250" y="4953000"/>
            <a:ext cx="8953500" cy="66675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Pilot recommendation: MySect bills firms directly; firms collect customer payments directly. Add marketplace payouts only after legal, tax, KYC and dispute ownership are approved.</a:t>
            </a:r>
          </a:p>
        </p:txBody>
      </p:sp>
    </p:spTree>
    <p:extLst>
      <p:ext uri="{BB962C8B-B14F-4D97-AF65-F5344CB8AC3E}">
        <p14:creationId xmlns:p14="http://schemas.microsoft.com/office/powerpoint/2010/main" val="1249152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9AA05E-5DAE-4C57-A935-6CF8343971B5}"/>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C4EC81F4-F7F8-4048-9E31-36ED6F850AF6}"/>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Two-year plan: validate the workflow before scaling it</a:t>
            </a:r>
          </a:p>
        </p:txBody>
      </p:sp>
      <p:sp>
        <p:nvSpPr>
          <p:cNvPr id="3" name="">
            <a:extLst xmlns:a="http://schemas.openxmlformats.org/drawingml/2006/main">
              <a:ext uri="{FF2B5EF4-FFF2-40B4-BE49-F238E27FC236}">
                <a16:creationId xmlns:a16="http://schemas.microsoft.com/office/drawing/2014/main" id="{30BDB48A-5D75-4B36-9DEC-58E000765CB9}"/>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6723D314-9D00-4BEF-9B68-1FA923D3A0B9}"/>
              </a:ext>
            </a:extLst>
          </p:cNvPr>
          <p:cNvSpPr>
            <a:spLocks xmlns:a="http://schemas.openxmlformats.org/drawingml/2006/main" noGrp="1"/>
          </p:cNvSpPr>
          <p:nvPr/>
        </p:nvSpPr>
        <p:spPr>
          <a:xfrm xmlns:a="http://schemas.openxmlformats.org/drawingml/2006/main">
            <a:off x="552450" y="1428750"/>
            <a:ext cx="5238750" cy="64770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1  |  0–3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Foundation + customer/secretary MVP</a:t>
            </a:r>
          </a:p>
        </p:txBody>
      </p:sp>
      <p:sp>
        <p:nvSpPr>
          <p:cNvPr id="5" name="">
            <a:extLst xmlns:a="http://schemas.openxmlformats.org/drawingml/2006/main">
              <a:ext uri="{FF2B5EF4-FFF2-40B4-BE49-F238E27FC236}">
                <a16:creationId xmlns:a16="http://schemas.microsoft.com/office/drawing/2014/main" id="{222EA049-5795-4C05-8595-E00785A0975D}"/>
              </a:ext>
            </a:extLst>
          </p:cNvPr>
          <p:cNvSpPr>
            <a:spLocks xmlns:a="http://schemas.openxmlformats.org/drawingml/2006/main" noGrp="1"/>
          </p:cNvSpPr>
          <p:nvPr/>
        </p:nvSpPr>
        <p:spPr>
          <a:xfrm xmlns:a="http://schemas.openxmlformats.org/drawingml/2006/main">
            <a:off x="6400800" y="1428750"/>
            <a:ext cx="5238750" cy="6477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Phase 2  |  4–6 months</a:t>
            </a:r>
          </a:p>
          <a:p xmlns:a="http://schemas.openxmlformats.org/drawingml/2006/main">
            <a:pP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Pilot with controlled secretary firms</a:t>
            </a:r>
          </a:p>
        </p:txBody>
      </p:sp>
      <p:sp>
        <p:nvSpPr>
          <p:cNvPr id="6" name="">
            <a:extLst xmlns:a="http://schemas.openxmlformats.org/drawingml/2006/main">
              <a:ext uri="{FF2B5EF4-FFF2-40B4-BE49-F238E27FC236}">
                <a16:creationId xmlns:a16="http://schemas.microsoft.com/office/drawing/2014/main" id="{9A86471B-83F1-4D78-9E61-3E3DCCDA6D14}"/>
              </a:ext>
            </a:extLst>
          </p:cNvPr>
          <p:cNvSpPr>
            <a:spLocks xmlns:a="http://schemas.openxmlformats.org/drawingml/2006/main" noGrp="1"/>
          </p:cNvSpPr>
          <p:nvPr/>
        </p:nvSpPr>
        <p:spPr>
          <a:xfrm xmlns:a="http://schemas.openxmlformats.org/drawingml/2006/main">
            <a:off x="552450" y="2333625"/>
            <a:ext cx="5238750" cy="16192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Auth, tenant model, cases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AI intake and escalation</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TM Cloud storage + signed URLs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Secretary queue and human chat</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Audit events and backups</a:t>
            </a:r>
          </a:p>
        </p:txBody>
      </p:sp>
      <p:sp>
        <p:nvSpPr>
          <p:cNvPr id="7" name="">
            <a:extLst xmlns:a="http://schemas.openxmlformats.org/drawingml/2006/main">
              <a:ext uri="{FF2B5EF4-FFF2-40B4-BE49-F238E27FC236}">
                <a16:creationId xmlns:a16="http://schemas.microsoft.com/office/drawing/2014/main" id="{4C6BFDEB-2023-4120-90A5-803C9E57F68A}"/>
              </a:ext>
            </a:extLst>
          </p:cNvPr>
          <p:cNvSpPr>
            <a:spLocks xmlns:a="http://schemas.openxmlformats.org/drawingml/2006/main" noGrp="1"/>
          </p:cNvSpPr>
          <p:nvPr/>
        </p:nvSpPr>
        <p:spPr>
          <a:xfrm xmlns:a="http://schemas.openxmlformats.org/drawingml/2006/main">
            <a:off x="6400800" y="2333625"/>
            <a:ext cx="5238750" cy="16192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Real client/firm onboarding</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SLA, billing and notifications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Security testing and restore drills</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Measure AI resolution and handoff</a:t>
            </a:r>
          </a:p>
          <a:p xmlns:a="http://schemas.openxmlformats.org/drawingml/2006/main">
            <a:pPr>
              <a:defRPr sz="1350" b="0" i="0">
                <a:solidFill>
                  <a:srgbClr val="243447"/>
                </a:solidFill>
                <a:latin typeface="Helvetica Neue"/>
                <a:ea typeface="Helvetica Neue"/>
                <a:cs typeface="Helvetica Neue"/>
              </a:defRPr>
            </a:pPr>
            <a:r>
              <a:rPr sz="1350" b="0" i="0">
                <a:solidFill>
                  <a:srgbClr val="243447"/>
                </a:solidFill>
                <a:latin typeface="Helvetica Neue"/>
                <a:ea typeface="Helvetica Neue"/>
                <a:cs typeface="Helvetica Neue"/>
              </a:rPr>
              <a:t>• Refine packages and operations</a:t>
            </a:r>
          </a:p>
        </p:txBody>
      </p:sp>
      <p:sp>
        <p:nvSpPr>
          <p:cNvPr id="8" name="">
            <a:extLst xmlns:a="http://schemas.openxmlformats.org/drawingml/2006/main">
              <a:ext uri="{FF2B5EF4-FFF2-40B4-BE49-F238E27FC236}">
                <a16:creationId xmlns:a16="http://schemas.microsoft.com/office/drawing/2014/main" id="{DAE90933-09BA-4170-B2E5-849D1B1B0F28}"/>
              </a:ext>
            </a:extLst>
          </p:cNvPr>
          <p:cNvSpPr>
            <a:spLocks xmlns:a="http://schemas.openxmlformats.org/drawingml/2006/main" noGrp="1"/>
          </p:cNvSpPr>
          <p:nvPr/>
        </p:nvSpPr>
        <p:spPr>
          <a:xfrm xmlns:a="http://schemas.openxmlformats.org/drawingml/2006/main">
            <a:off x="552450" y="4476750"/>
            <a:ext cx="110871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Planning range for 24 months: RM1.68m–RM3.52m total. Biggest drivers are people, product scope, security/support, and operational scale—not AI tokens alone.</a:t>
            </a:r>
          </a:p>
        </p:txBody>
      </p:sp>
    </p:spTree>
    <p:extLst>
      <p:ext uri="{BB962C8B-B14F-4D97-AF65-F5344CB8AC3E}">
        <p14:creationId xmlns:p14="http://schemas.microsoft.com/office/powerpoint/2010/main" val="9928449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420C01-0654-4098-A482-7369F51EC1C8}"/>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80CFA13A-89D2-4DAE-BA5F-8064EB15E6E6}"/>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Management decisions required before UI design</a:t>
            </a:r>
          </a:p>
        </p:txBody>
      </p:sp>
      <p:sp>
        <p:nvSpPr>
          <p:cNvPr id="3" name="">
            <a:extLst xmlns:a="http://schemas.openxmlformats.org/drawingml/2006/main">
              <a:ext uri="{FF2B5EF4-FFF2-40B4-BE49-F238E27FC236}">
                <a16:creationId xmlns:a16="http://schemas.microsoft.com/office/drawing/2014/main" id="{8DA0EE1E-ED2C-4226-9042-DC42DD29A746}"/>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71EA8214-A13B-4A71-B146-9B2D77F44DAB}"/>
              </a:ext>
            </a:extLst>
          </p:cNvPr>
          <p:cNvSpPr>
            <a:spLocks xmlns:a="http://schemas.openxmlformats.org/drawingml/2006/main" noGrp="1"/>
          </p:cNvSpPr>
          <p:nvPr/>
        </p:nvSpPr>
        <p:spPr>
          <a:xfrm xmlns:a="http://schemas.openxmlformats.org/drawingml/2006/main">
            <a:off x="714375" y="1381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010CA60-ED4C-43C1-ABFD-CF1B287E0214}"/>
              </a:ext>
            </a:extLst>
          </p:cNvPr>
          <p:cNvSpPr>
            <a:spLocks xmlns:a="http://schemas.openxmlformats.org/drawingml/2006/main" noGrp="1"/>
          </p:cNvSpPr>
          <p:nvPr/>
        </p:nvSpPr>
        <p:spPr>
          <a:xfrm xmlns:a="http://schemas.openxmlformats.org/drawingml/2006/main">
            <a:off x="1333500" y="1362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launch scope: company secretary services and first filing workflows</a:t>
            </a:r>
          </a:p>
        </p:txBody>
      </p:sp>
      <p:sp>
        <p:nvSpPr>
          <p:cNvPr id="6" name="">
            <a:extLst xmlns:a="http://schemas.openxmlformats.org/drawingml/2006/main">
              <a:ext uri="{FF2B5EF4-FFF2-40B4-BE49-F238E27FC236}">
                <a16:creationId xmlns:a16="http://schemas.microsoft.com/office/drawing/2014/main" id="{69BF2112-B354-472A-88B0-929DB50017E4}"/>
              </a:ext>
            </a:extLst>
          </p:cNvPr>
          <p:cNvSpPr>
            <a:spLocks xmlns:a="http://schemas.openxmlformats.org/drawingml/2006/main" noGrp="1"/>
          </p:cNvSpPr>
          <p:nvPr/>
        </p:nvSpPr>
        <p:spPr>
          <a:xfrm xmlns:a="http://schemas.openxmlformats.org/drawingml/2006/main">
            <a:off x="714375" y="19907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C93DFE74-4EA2-4AC1-B875-A995BD7A33AE}"/>
              </a:ext>
            </a:extLst>
          </p:cNvPr>
          <p:cNvSpPr>
            <a:spLocks xmlns:a="http://schemas.openxmlformats.org/drawingml/2006/main" noGrp="1"/>
          </p:cNvSpPr>
          <p:nvPr/>
        </p:nvSpPr>
        <p:spPr>
          <a:xfrm xmlns:a="http://schemas.openxmlformats.org/drawingml/2006/main">
            <a:off x="1333500" y="19716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Secretary Firm commercial model, onboarding and revenue share</a:t>
            </a:r>
          </a:p>
        </p:txBody>
      </p:sp>
      <p:sp>
        <p:nvSpPr>
          <p:cNvPr id="8" name="">
            <a:extLst xmlns:a="http://schemas.openxmlformats.org/drawingml/2006/main">
              <a:ext uri="{FF2B5EF4-FFF2-40B4-BE49-F238E27FC236}">
                <a16:creationId xmlns:a16="http://schemas.microsoft.com/office/drawing/2014/main" id="{2D3FF606-BECE-474E-8787-131B1767E095}"/>
              </a:ext>
            </a:extLst>
          </p:cNvPr>
          <p:cNvSpPr>
            <a:spLocks xmlns:a="http://schemas.openxmlformats.org/drawingml/2006/main" noGrp="1"/>
          </p:cNvSpPr>
          <p:nvPr/>
        </p:nvSpPr>
        <p:spPr>
          <a:xfrm xmlns:a="http://schemas.openxmlformats.org/drawingml/2006/main">
            <a:off x="714375" y="26003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032A70DF-0B26-44B9-A843-32C5C2592A2A}"/>
              </a:ext>
            </a:extLst>
          </p:cNvPr>
          <p:cNvSpPr>
            <a:spLocks xmlns:a="http://schemas.openxmlformats.org/drawingml/2006/main" noGrp="1"/>
          </p:cNvSpPr>
          <p:nvPr/>
        </p:nvSpPr>
        <p:spPr>
          <a:xfrm xmlns:a="http://schemas.openxmlformats.org/drawingml/2006/main">
            <a:off x="1333500" y="25812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TM Cloud product, region, API, backup and retention terms</a:t>
            </a:r>
          </a:p>
        </p:txBody>
      </p:sp>
      <p:sp>
        <p:nvSpPr>
          <p:cNvPr id="10" name="">
            <a:extLst xmlns:a="http://schemas.openxmlformats.org/drawingml/2006/main">
              <a:ext uri="{FF2B5EF4-FFF2-40B4-BE49-F238E27FC236}">
                <a16:creationId xmlns:a16="http://schemas.microsoft.com/office/drawing/2014/main" id="{6CDF1B46-188F-4F66-A2D6-7F40C09B608D}"/>
              </a:ext>
            </a:extLst>
          </p:cNvPr>
          <p:cNvSpPr>
            <a:spLocks xmlns:a="http://schemas.openxmlformats.org/drawingml/2006/main" noGrp="1"/>
          </p:cNvSpPr>
          <p:nvPr/>
        </p:nvSpPr>
        <p:spPr>
          <a:xfrm xmlns:a="http://schemas.openxmlformats.org/drawingml/2006/main">
            <a:off x="714375" y="32099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F64BDE8A-B369-4DB8-8743-FEFA516F8497}"/>
              </a:ext>
            </a:extLst>
          </p:cNvPr>
          <p:cNvSpPr>
            <a:spLocks xmlns:a="http://schemas.openxmlformats.org/drawingml/2006/main" noGrp="1"/>
          </p:cNvSpPr>
          <p:nvPr/>
        </p:nvSpPr>
        <p:spPr>
          <a:xfrm xmlns:a="http://schemas.openxmlformats.org/drawingml/2006/main">
            <a:off x="1333500" y="31908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pilot AI provider and data-processing review</a:t>
            </a:r>
          </a:p>
        </p:txBody>
      </p:sp>
      <p:sp>
        <p:nvSpPr>
          <p:cNvPr id="12" name="">
            <a:extLst xmlns:a="http://schemas.openxmlformats.org/drawingml/2006/main">
              <a:ext uri="{FF2B5EF4-FFF2-40B4-BE49-F238E27FC236}">
                <a16:creationId xmlns:a16="http://schemas.microsoft.com/office/drawing/2014/main" id="{94C67692-E17D-4460-A915-4501253C3373}"/>
              </a:ext>
            </a:extLst>
          </p:cNvPr>
          <p:cNvSpPr>
            <a:spLocks xmlns:a="http://schemas.openxmlformats.org/drawingml/2006/main" noGrp="1"/>
          </p:cNvSpPr>
          <p:nvPr/>
        </p:nvSpPr>
        <p:spPr>
          <a:xfrm xmlns:a="http://schemas.openxmlformats.org/drawingml/2006/main">
            <a:off x="714375" y="38195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6B8A823D-A818-443D-885A-72E05D400F52}"/>
              </a:ext>
            </a:extLst>
          </p:cNvPr>
          <p:cNvSpPr>
            <a:spLocks xmlns:a="http://schemas.openxmlformats.org/drawingml/2006/main" noGrp="1"/>
          </p:cNvSpPr>
          <p:nvPr/>
        </p:nvSpPr>
        <p:spPr>
          <a:xfrm xmlns:a="http://schemas.openxmlformats.org/drawingml/2006/main">
            <a:off x="1333500" y="38004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two-year budget envelope and first 90-day delivery team</a:t>
            </a:r>
          </a:p>
        </p:txBody>
      </p:sp>
      <p:sp>
        <p:nvSpPr>
          <p:cNvPr id="14" name="">
            <a:extLst xmlns:a="http://schemas.openxmlformats.org/drawingml/2006/main">
              <a:ext uri="{FF2B5EF4-FFF2-40B4-BE49-F238E27FC236}">
                <a16:creationId xmlns:a16="http://schemas.microsoft.com/office/drawing/2014/main" id="{FBB69409-C2E9-40FB-BA10-6D2116E5FD7B}"/>
              </a:ext>
            </a:extLst>
          </p:cNvPr>
          <p:cNvSpPr>
            <a:spLocks xmlns:a="http://schemas.openxmlformats.org/drawingml/2006/main" noGrp="1"/>
          </p:cNvSpPr>
          <p:nvPr/>
        </p:nvSpPr>
        <p:spPr>
          <a:xfrm xmlns:a="http://schemas.openxmlformats.org/drawingml/2006/main">
            <a:off x="714375" y="4429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FEB6E0EE-1AB5-491B-85D8-89AFD801A358}"/>
              </a:ext>
            </a:extLst>
          </p:cNvPr>
          <p:cNvSpPr>
            <a:spLocks xmlns:a="http://schemas.openxmlformats.org/drawingml/2006/main" noGrp="1"/>
          </p:cNvSpPr>
          <p:nvPr/>
        </p:nvSpPr>
        <p:spPr>
          <a:xfrm xmlns:a="http://schemas.openxmlformats.org/drawingml/2006/main">
            <a:off x="1333500" y="4410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Name the first pilot firm and 5–10 customer companies</a:t>
            </a:r>
          </a:p>
        </p:txBody>
      </p:sp>
      <p:sp>
        <p:nvSpPr>
          <p:cNvPr id="16" name="">
            <a:extLst xmlns:a="http://schemas.openxmlformats.org/drawingml/2006/main">
              <a:ext uri="{FF2B5EF4-FFF2-40B4-BE49-F238E27FC236}">
                <a16:creationId xmlns:a16="http://schemas.microsoft.com/office/drawing/2014/main" id="{6AB028E4-AE0E-4778-8C9C-317809C78D73}"/>
              </a:ext>
            </a:extLst>
          </p:cNvPr>
          <p:cNvSpPr>
            <a:spLocks xmlns:a="http://schemas.openxmlformats.org/drawingml/2006/main" noGrp="1"/>
          </p:cNvSpPr>
          <p:nvPr/>
        </p:nvSpPr>
        <p:spPr>
          <a:xfrm xmlns:a="http://schemas.openxmlformats.org/drawingml/2006/main">
            <a:off x="714375" y="5381625"/>
            <a:ext cx="10715625" cy="4572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92434"/>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Recommended next milestone: approve the blueprint, then write the MVP product requirements and data model before visual design.</a:t>
            </a:r>
          </a:p>
        </p:txBody>
      </p:sp>
    </p:spTree>
    <p:extLst>
      <p:ext uri="{BB962C8B-B14F-4D97-AF65-F5344CB8AC3E}">
        <p14:creationId xmlns:p14="http://schemas.microsoft.com/office/powerpoint/2010/main" val="1912769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2026-09-28T01:31:30.1070000Z</dcterms:created>
  <dcterms:modified xsi:type="dcterms:W3CDTF">2026-09-28T01:31:30.1070000Z</dcterms:modified>
</coreProperties>
</file>