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6ad1e3e0184432" /><Relationship Type="http://schemas.openxmlformats.org/officeDocument/2006/relationships/extended-properties" Target="/docProps/app.xml" Id="R85137bcb76dd4b96" /><Relationship Type="http://schemas.openxmlformats.org/officeDocument/2006/relationships/officeDocument" Target="/ppt/presentation.xml" Id="R0ed2bd9d752d4a03" /></Relationships>
</file>

<file path=ppt/presentation.xml><?xml version="1.0" encoding="utf-8"?>
<p:presentation xmlns:p="http://schemas.openxmlformats.org/presentationml/2006/main">
  <p:sldMasterIdLst>
    <p:sldMasterId xmlns:r="http://schemas.openxmlformats.org/officeDocument/2006/relationships" id="2147483648" r:id="R33e68979f39a4934"/>
  </p:sldMasterIdLst>
  <p:notesMasterIdLst>
    <p:notesMasterId xmlns:r="http://schemas.openxmlformats.org/officeDocument/2006/relationships" r:id="Rd3debdaa157c490a"/>
  </p:notesMasterIdLst>
  <p:sldIdLst>
    <p:sldId xmlns:r="http://schemas.openxmlformats.org/officeDocument/2006/relationships" id="256" r:id="R90a551c9ce5d41b4"/>
    <p:sldId xmlns:r="http://schemas.openxmlformats.org/officeDocument/2006/relationships" id="257" r:id="R70cffbb0a963445b"/>
    <p:sldId xmlns:r="http://schemas.openxmlformats.org/officeDocument/2006/relationships" id="258" r:id="Rb71b73c01fff4947"/>
    <p:sldId xmlns:r="http://schemas.openxmlformats.org/officeDocument/2006/relationships" id="259" r:id="R3b28896e111f47c9"/>
    <p:sldId xmlns:r="http://schemas.openxmlformats.org/officeDocument/2006/relationships" id="260" r:id="R8ffa31e7b32748f7"/>
    <p:sldId xmlns:r="http://schemas.openxmlformats.org/officeDocument/2006/relationships" id="261" r:id="R531fbe18f7d64cc3"/>
    <p:sldId xmlns:r="http://schemas.openxmlformats.org/officeDocument/2006/relationships" id="262" r:id="R72b6b96fc72e4328"/>
    <p:sldId xmlns:r="http://schemas.openxmlformats.org/officeDocument/2006/relationships" id="263" r:id="R4b1fd6e7fc7f4767"/>
    <p:sldId xmlns:r="http://schemas.openxmlformats.org/officeDocument/2006/relationships" id="264" r:id="R325c532d04c147a8"/>
    <p:sldId xmlns:r="http://schemas.openxmlformats.org/officeDocument/2006/relationships" id="265" r:id="R178d73cd2c9b4581"/>
    <p:sldId xmlns:r="http://schemas.openxmlformats.org/officeDocument/2006/relationships" id="266" r:id="R50d74c51e16444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784dce77164b98" /><Relationship Type="http://schemas.openxmlformats.org/officeDocument/2006/relationships/slideMaster" Target="/ppt/slideMasters/slideMaster1.xml" Id="R33e68979f39a4934" /><Relationship Type="http://schemas.openxmlformats.org/officeDocument/2006/relationships/notesMaster" Target="/ppt/notesMasters/notesMaster1.xml" Id="Rd3debdaa157c490a" /><Relationship Type="http://schemas.openxmlformats.org/officeDocument/2006/relationships/presProps" Target="/ppt/presProps.xml" Id="R5dac2f38171c4394" /><Relationship Type="http://schemas.openxmlformats.org/officeDocument/2006/relationships/tableStyles" Target="/ppt/tableStyles.xml" Id="R9de032dbd8d94d2e" /><Relationship Type="http://schemas.openxmlformats.org/officeDocument/2006/relationships/slide" Target="/ppt/slides/slide1.xml" Id="R90a551c9ce5d41b4" /><Relationship Type="http://schemas.openxmlformats.org/officeDocument/2006/relationships/slide" Target="/ppt/slides/slide2.xml" Id="R70cffbb0a963445b" /><Relationship Type="http://schemas.openxmlformats.org/officeDocument/2006/relationships/slide" Target="/ppt/slides/slide3.xml" Id="Rb71b73c01fff4947" /><Relationship Type="http://schemas.openxmlformats.org/officeDocument/2006/relationships/slide" Target="/ppt/slides/slide4.xml" Id="R3b28896e111f47c9" /><Relationship Type="http://schemas.openxmlformats.org/officeDocument/2006/relationships/slide" Target="/ppt/slides/slide5.xml" Id="R8ffa31e7b32748f7" /><Relationship Type="http://schemas.openxmlformats.org/officeDocument/2006/relationships/slide" Target="/ppt/slides/slide6.xml" Id="R531fbe18f7d64cc3" /><Relationship Type="http://schemas.openxmlformats.org/officeDocument/2006/relationships/slide" Target="/ppt/slides/slide7.xml" Id="R72b6b96fc72e4328" /><Relationship Type="http://schemas.openxmlformats.org/officeDocument/2006/relationships/slide" Target="/ppt/slides/slide8.xml" Id="R4b1fd6e7fc7f4767" /><Relationship Type="http://schemas.openxmlformats.org/officeDocument/2006/relationships/slide" Target="/ppt/slides/slide9.xml" Id="R325c532d04c147a8" /><Relationship Type="http://schemas.openxmlformats.org/officeDocument/2006/relationships/slide" Target="/ppt/slides/slide10.xml" Id="R178d73cd2c9b4581" /><Relationship Type="http://schemas.openxmlformats.org/officeDocument/2006/relationships/slide" Target="/ppt/slides/slide11.xml" Id="R50d74c51e16444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1fbc24c9d543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a8db469d9a4857" /><Relationship Type="http://schemas.openxmlformats.org/officeDocument/2006/relationships/notesMaster" Target="/ppt/notesMasters/notesMaster1.xml" Id="R9b313612e0c940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6c64bbb4ea46aa" /><Relationship Type="http://schemas.openxmlformats.org/officeDocument/2006/relationships/notesMaster" Target="/ppt/notesMasters/notesMaster1.xml" Id="R03fafc92e1ed40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a7bfa1ddce48fa" /><Relationship Type="http://schemas.openxmlformats.org/officeDocument/2006/relationships/notesMaster" Target="/ppt/notesMasters/notesMaster1.xml" Id="R8da0ae2a45c342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f7fa5e0baa4a02" /><Relationship Type="http://schemas.openxmlformats.org/officeDocument/2006/relationships/notesMaster" Target="/ppt/notesMasters/notesMaster1.xml" Id="R8dc5054b0d344c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3f385baeb34c97" /><Relationship Type="http://schemas.openxmlformats.org/officeDocument/2006/relationships/notesMaster" Target="/ppt/notesMasters/notesMaster1.xml" Id="R65961798902c44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603e82540f485c" /><Relationship Type="http://schemas.openxmlformats.org/officeDocument/2006/relationships/notesMaster" Target="/ppt/notesMasters/notesMaster1.xml" Id="R6c603b659b5747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04644adff1460c" /><Relationship Type="http://schemas.openxmlformats.org/officeDocument/2006/relationships/notesMaster" Target="/ppt/notesMasters/notesMaster1.xml" Id="R9c681f5e3bc048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0939c3ab29464a" /><Relationship Type="http://schemas.openxmlformats.org/officeDocument/2006/relationships/notesMaster" Target="/ppt/notesMasters/notesMaster1.xml" Id="R9b00db2dd2dd4e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50fd0e83fc43e7" /><Relationship Type="http://schemas.openxmlformats.org/officeDocument/2006/relationships/notesMaster" Target="/ppt/notesMasters/notesMaster1.xml" Id="R90135907118641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c437d2160f4fdf" /><Relationship Type="http://schemas.openxmlformats.org/officeDocument/2006/relationships/notesMaster" Target="/ppt/notesMasters/notesMaster1.xml" Id="R6595b2b4bd6145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32bd0287014734" /><Relationship Type="http://schemas.openxmlformats.org/officeDocument/2006/relationships/notesMaster" Target="/ppt/notesMasters/notesMaster1.xml" Id="R1043d0f1d36a4d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the proposed MySect product and delivery blueprint. Source: MYSECT_PLATFORM_BLUEPRINT.md.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 three role-specific products share one backend and authorization model. The secretary firm is a tenant/partner organization; MySect remains the platform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Page inventory summary. The detailed page-by-page checklist is in the blueprint PDF section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recommendation: one shared backend with strict tenant isolation, backend-controlled AI tools, and signed file access. Source: blueprint sections 6, 7 and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reflects the agreed MySect workflow: customers speak to AI first; the secretary controls the human chat. AI must use backend tools and escalation rules, not free-form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Deployment choice: Windows Server remains the operational host, but production Linux containers should run inside a Hyper-V Linux VM rather than relying on Docker Desktop as the server runtime. Sources: Microsoft Windows containers/Linux containers documentation and TM One cloud service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Pricing sources: Google Gemini API pricing, Mistral API pricing, DeepSeek API pricing, and OpenAI API pricing. Prices are subject to provider changes and do not include OCR, storage, observability, development, or support. Recommended implementation: provider-neutral AiProvider interface, Gemini Flash-Lite for pilot intake, with a controlled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reference prices only. Epsilon ID V3, TrueIdentity, MasChain and Tekkis pages were reviewed for published pricing. TM One Cloud Alpha pages do not publish the exact production Object Storage line-item price; an older Cloud Alpha VPC catalogue provides a planning reference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Payment architecture: two independent billing ledgers and merchant relationships. Evaluate Stripe first for Malaysia, using recurring card billing for MySect firm subscriptions and one-off FPX/card checkout for secretary invoices. FPX is not recurring according to Stripe documentation. Sources: Stripe Malaysia pricing, Billing, FPX and Connect pages.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Three-month target is an MVP and controlled pilot, not the complete long-term platform. Scope and sequencing are detailed in blueprint section 16.1.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next deliverable after management approval should be the MVP product requirements, permission matrix, data model, and clickable role 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e1df8173234e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e10218f599407d" /><Relationship Type="http://schemas.openxmlformats.org/officeDocument/2006/relationships/slideLayout" Target="/ppt/slideLayouts/slideLayout1.xml" Id="Rbfb9b93fab4a42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b9b93fab4a42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8002ade6644969" /><Relationship Type="http://schemas.openxmlformats.org/officeDocument/2006/relationships/notesSlide" Target="/ppt/notesSlides/notesSlide1.xml" Id="R049ca9d68c6447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7ac0a6a045439d" /><Relationship Type="http://schemas.openxmlformats.org/officeDocument/2006/relationships/notesSlide" Target="/ppt/notesSlides/notesSlide2.xml" Id="R005fb2ca09f443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4076317252497e" /><Relationship Type="http://schemas.openxmlformats.org/officeDocument/2006/relationships/notesSlide" Target="/ppt/notesSlides/notesSlide3.xml" Id="Rd359340cd80e4f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c1f5a844f34072" /><Relationship Type="http://schemas.openxmlformats.org/officeDocument/2006/relationships/notesSlide" Target="/ppt/notesSlides/notesSlide4.xml" Id="R84b84d25e8214b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aaed64458d46b2" /><Relationship Type="http://schemas.openxmlformats.org/officeDocument/2006/relationships/notesSlide" Target="/ppt/notesSlides/notesSlide5.xml" Id="R7f8c89c9a32f4b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f38e83c0e24345" /><Relationship Type="http://schemas.openxmlformats.org/officeDocument/2006/relationships/notesSlide" Target="/ppt/notesSlides/notesSlide6.xml" Id="R708a7dde1fe443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d6e2a9350d40b3" /><Relationship Type="http://schemas.openxmlformats.org/officeDocument/2006/relationships/notesSlide" Target="/ppt/notesSlides/notesSlide7.xml" Id="Rc0f7c683e07b48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3122b2af5f4144" /><Relationship Type="http://schemas.openxmlformats.org/officeDocument/2006/relationships/notesSlide" Target="/ppt/notesSlides/notesSlide8.xml" Id="R8d9c58b13a934b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bb22bb332a46c1" /><Relationship Type="http://schemas.openxmlformats.org/officeDocument/2006/relationships/notesSlide" Target="/ppt/notesSlides/notesSlide9.xml" Id="R9fa134088d5745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40d7e97b7884ce5" /><Relationship Type="http://schemas.openxmlformats.org/officeDocument/2006/relationships/notesSlide" Target="/ppt/notesSlides/notesSlide10.xml" Id="Rbb713168b47042c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0ddc6e468b4527" /><Relationship Type="http://schemas.openxmlformats.org/officeDocument/2006/relationships/notesSlide" Target="/ppt/notesSlides/notesSlide11.xml" Id="R07398aef10a4498e" /></Relationships>
</file>

<file path=ppt/slides/slide1.xml><?xml version="1.0" encoding="utf-8"?>
<p:sld xmlns:p="http://schemas.openxmlformats.org/presentationml/2006/main">
  <p:cSld>
    <p:bg>
      <p:bgPr>
        <a:solidFill xmlns:a="http://schemas.openxmlformats.org/drawingml/2006/main">
          <a:srgbClr val="123B6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60710D-F1DD-48A7-A298-C2AF26E63C59}"/>
              </a:ext>
            </a:extLst>
          </p:cNvPr>
          <p:cNvSpPr>
            <a:spLocks xmlns:a="http://schemas.openxmlformats.org/drawingml/2006/main" noGrp="1"/>
          </p:cNvSpPr>
          <p:nvPr/>
        </p:nvSpPr>
        <p:spPr>
          <a:xfrm xmlns:a="http://schemas.openxmlformats.org/drawingml/2006/main">
            <a:off x="742950" y="9048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i="0">
                <a:solidFill>
                  <a:srgbClr val="9FD7E0"/>
                </a:solidFill>
                <a:latin typeface="Helvetica Neue"/>
                <a:ea typeface="Helvetica Neue"/>
                <a:cs typeface="Helvetica Neue"/>
              </a:defRPr>
            </a:pPr>
            <a:r>
              <a:rPr sz="1125" b="1" i="0">
                <a:solidFill>
                  <a:srgbClr val="9FD7E0"/>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F488763E-61CE-4FAA-BA1F-B958DE08E216}"/>
              </a:ext>
            </a:extLst>
          </p:cNvPr>
          <p:cNvSpPr>
            <a:spLocks xmlns:a="http://schemas.openxmlformats.org/drawingml/2006/main" noGrp="1"/>
          </p:cNvSpPr>
          <p:nvPr/>
        </p:nvSpPr>
        <p:spPr>
          <a:xfrm xmlns:a="http://schemas.openxmlformats.org/drawingml/2006/main">
            <a:off x="742950" y="1581150"/>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i="0">
                <a:solidFill>
                  <a:srgbClr val="FFFFFF"/>
                </a:solidFill>
                <a:latin typeface="Helvetica Neue"/>
                <a:ea typeface="Helvetica Neue"/>
                <a:cs typeface="Helvetica Neue"/>
              </a:defRPr>
            </a:pPr>
            <a:r>
              <a:rPr sz="3300" b="1" i="0">
                <a:solidFill>
                  <a:srgbClr val="FFFFFF"/>
                </a:solidFill>
                <a:latin typeface="Helvetica Neue"/>
                <a:ea typeface="Helvetica Neue"/>
                <a:cs typeface="Helvetica Neue"/>
              </a:rPr>
              <a:t>A secure operating platform</a:t>
            </a:r>
          </a:p>
          <a:p xmlns:a="http://schemas.openxmlformats.org/drawingml/2006/main">
            <a:pPr>
              <a:defRPr sz="3300" b="1" i="0">
                <a:solidFill>
                  <a:srgbClr val="FFFFFF"/>
                </a:solidFill>
                <a:latin typeface="Helvetica Neue"/>
                <a:ea typeface="Helvetica Neue"/>
                <a:cs typeface="Helvetica Neue"/>
              </a:defRPr>
            </a:pPr>
            <a:r>
              <a:rPr sz="3300" b="1" i="0">
                <a:solidFill>
                  <a:srgbClr val="FFFFFF"/>
                </a:solidFill>
                <a:latin typeface="Helvetica Neue"/>
                <a:ea typeface="Helvetica Neue"/>
                <a:cs typeface="Helvetica Neue"/>
              </a:rPr>
              <a:t>for company-secretary services</a:t>
            </a:r>
          </a:p>
        </p:txBody>
      </p:sp>
      <p:sp>
        <p:nvSpPr>
          <p:cNvPr id="3" name="">
            <a:extLst xmlns:a="http://schemas.openxmlformats.org/drawingml/2006/main">
              <a:ext uri="{FF2B5EF4-FFF2-40B4-BE49-F238E27FC236}">
                <a16:creationId xmlns:a16="http://schemas.microsoft.com/office/drawing/2014/main" id="{24808248-0458-48DB-8554-36967DEDCC20}"/>
              </a:ext>
            </a:extLst>
          </p:cNvPr>
          <p:cNvSpPr>
            <a:spLocks xmlns:a="http://schemas.openxmlformats.org/drawingml/2006/main" noGrp="1"/>
          </p:cNvSpPr>
          <p:nvPr/>
        </p:nvSpPr>
        <p:spPr>
          <a:xfrm xmlns:a="http://schemas.openxmlformats.org/drawingml/2006/main">
            <a:off x="781050" y="3162300"/>
            <a:ext cx="7810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i="0">
                <a:solidFill>
                  <a:srgbClr val="D9E8F1"/>
                </a:solidFill>
                <a:latin typeface="Helvetica Neue"/>
                <a:ea typeface="Helvetica Neue"/>
                <a:cs typeface="Helvetica Neue"/>
              </a:defRPr>
            </a:pPr>
            <a:r>
              <a:rPr sz="1575" b="0" i="0">
                <a:solidFill>
                  <a:srgbClr val="D9E8F1"/>
                </a:solidFill>
                <a:latin typeface="Helvetica Neue"/>
                <a:ea typeface="Helvetica Neue"/>
                <a:cs typeface="Helvetica Neue"/>
              </a:rPr>
              <a:t>Customer mobile app  |  Secretary workspace  |  MySect admin console</a:t>
            </a:r>
          </a:p>
        </p:txBody>
      </p:sp>
      <p:sp>
        <p:nvSpPr>
          <p:cNvPr id="4" name="">
            <a:extLst xmlns:a="http://schemas.openxmlformats.org/drawingml/2006/main">
              <a:ext uri="{FF2B5EF4-FFF2-40B4-BE49-F238E27FC236}">
                <a16:creationId xmlns:a16="http://schemas.microsoft.com/office/drawing/2014/main" id="{A7411A1B-0A81-4F1A-988A-245F7AAF59FA}"/>
              </a:ext>
            </a:extLst>
          </p:cNvPr>
          <p:cNvSpPr>
            <a:spLocks xmlns:a="http://schemas.openxmlformats.org/drawingml/2006/main" noGrp="1"/>
          </p:cNvSpPr>
          <p:nvPr/>
        </p:nvSpPr>
        <p:spPr>
          <a:xfrm xmlns:a="http://schemas.openxmlformats.org/drawingml/2006/main">
            <a:off x="781050" y="52578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BBD4E3"/>
                </a:solidFill>
                <a:latin typeface="Helvetica Neue"/>
                <a:ea typeface="Helvetica Neue"/>
                <a:cs typeface="Helvetica Neue"/>
              </a:defRPr>
            </a:pPr>
            <a:r>
              <a:rPr sz="1200" b="0" i="0">
                <a:solidFill>
                  <a:srgbClr val="BBD4E3"/>
                </a:solidFill>
                <a:latin typeface="Helvetica Neue"/>
                <a:ea typeface="Helvetica Neue"/>
                <a:cs typeface="Helvetica Neue"/>
              </a:rPr>
              <a:t>Management decision deck</a:t>
            </a:r>
          </a:p>
          <a:p xmlns:a="http://schemas.openxmlformats.org/drawingml/2006/main">
            <a:pPr>
              <a:defRPr sz="1200" b="0" i="0">
                <a:solidFill>
                  <a:srgbClr val="BBD4E3"/>
                </a:solidFill>
                <a:latin typeface="Helvetica Neue"/>
                <a:ea typeface="Helvetica Neue"/>
                <a:cs typeface="Helvetica Neue"/>
              </a:defRPr>
            </a:pPr>
            <a:r>
              <a:rPr sz="1200" b="0" i="0">
                <a:solidFill>
                  <a:srgbClr val="BBD4E3"/>
                </a:solidFill>
                <a:latin typeface="Helvetica Neue"/>
                <a:ea typeface="Helvetica Neue"/>
                <a:cs typeface="Helvetica Neue"/>
              </a:rPr>
              <a:t>28 September 2026</a:t>
            </a:r>
          </a:p>
        </p:txBody>
      </p:sp>
      <p:sp>
        <p:nvSpPr>
          <p:cNvPr id="5" name="">
            <a:extLst xmlns:a="http://schemas.openxmlformats.org/drawingml/2006/main">
              <a:ext uri="{FF2B5EF4-FFF2-40B4-BE49-F238E27FC236}">
                <a16:creationId xmlns:a16="http://schemas.microsoft.com/office/drawing/2014/main" id="{E441F3FC-BDE5-46D1-B6A4-7D037970B87D}"/>
              </a:ext>
            </a:extLst>
          </p:cNvPr>
          <p:cNvSpPr>
            <a:spLocks xmlns:a="http://schemas.openxmlformats.org/drawingml/2006/main" noGrp="1"/>
          </p:cNvSpPr>
          <p:nvPr/>
        </p:nvSpPr>
        <p:spPr>
          <a:xfrm xmlns:a="http://schemas.openxmlformats.org/drawingml/2006/main">
            <a:off x="9239250" y="5429250"/>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1" i="0">
                <a:solidFill>
                  <a:srgbClr val="F4B942"/>
                </a:solidFill>
                <a:latin typeface="Helvetica Neue"/>
                <a:ea typeface="Helvetica Neue"/>
                <a:cs typeface="Helvetica Neue"/>
              </a:defRPr>
            </a:pPr>
            <a:r>
              <a:rPr sz="1200" b="1" i="0">
                <a:solidFill>
                  <a:srgbClr val="F4B942"/>
                </a:solidFill>
                <a:latin typeface="Helvetica Neue"/>
                <a:ea typeface="Helvetica Neue"/>
                <a:cs typeface="Helvetica Neue"/>
              </a:rPr>
              <a:t>AI-first</a:t>
            </a:r>
          </a:p>
          <a:p xmlns:a="http://schemas.openxmlformats.org/drawingml/2006/main">
            <a:pPr>
              <a:defRPr sz="1200" b="1" i="0">
                <a:solidFill>
                  <a:srgbClr val="F4B942"/>
                </a:solidFill>
                <a:latin typeface="Helvetica Neue"/>
                <a:ea typeface="Helvetica Neue"/>
                <a:cs typeface="Helvetica Neue"/>
              </a:defRPr>
            </a:pPr>
            <a:r>
              <a:rPr sz="1200" b="1" i="0">
                <a:solidFill>
                  <a:srgbClr val="F4B942"/>
                </a:solidFill>
                <a:latin typeface="Helvetica Neue"/>
                <a:ea typeface="Helvetica Neue"/>
                <a:cs typeface="Helvetica Neue"/>
              </a:rPr>
              <a:t>secretary-controlled</a:t>
            </a:r>
          </a:p>
        </p:txBody>
      </p:sp>
    </p:spTree>
    <p:extLst>
      <p:ext uri="{BB962C8B-B14F-4D97-AF65-F5344CB8AC3E}">
        <p14:creationId xmlns:p14="http://schemas.microsoft.com/office/powerpoint/2010/main" val="2557830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A5AB0C2-9D97-422F-9197-89407A049A83}"/>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0B6D1C74-226F-44B1-A670-4F9D5252F464}"/>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One platform, three controlled experiences</a:t>
            </a:r>
          </a:p>
        </p:txBody>
      </p:sp>
      <p:sp>
        <p:nvSpPr>
          <p:cNvPr id="3" name="">
            <a:extLst xmlns:a="http://schemas.openxmlformats.org/drawingml/2006/main">
              <a:ext uri="{FF2B5EF4-FFF2-40B4-BE49-F238E27FC236}">
                <a16:creationId xmlns:a16="http://schemas.microsoft.com/office/drawing/2014/main" id="{E6569432-4596-41D3-BB2A-A12046B7271C}"/>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1EC27CC7-4618-4072-8FB6-D6E93D8C9F4D}"/>
              </a:ext>
            </a:extLst>
          </p:cNvPr>
          <p:cNvSpPr>
            <a:spLocks xmlns:a="http://schemas.openxmlformats.org/drawingml/2006/main" noGrp="1"/>
          </p:cNvSpPr>
          <p:nvPr/>
        </p:nvSpPr>
        <p:spPr>
          <a:xfrm xmlns:a="http://schemas.openxmlformats.org/drawingml/2006/main">
            <a:off x="552450" y="1571625"/>
            <a:ext cx="3333750" cy="28575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E5A243F3-4F06-491A-B7F7-8BD36AB82E83}"/>
              </a:ext>
            </a:extLst>
          </p:cNvPr>
          <p:cNvSpPr>
            <a:spLocks xmlns:a="http://schemas.openxmlformats.org/drawingml/2006/main" noGrp="1"/>
          </p:cNvSpPr>
          <p:nvPr/>
        </p:nvSpPr>
        <p:spPr>
          <a:xfrm xmlns:a="http://schemas.openxmlformats.org/drawingml/2006/main">
            <a:off x="723900" y="173355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1D6FA5"/>
                </a:solidFill>
                <a:latin typeface="Helvetica Neue"/>
                <a:ea typeface="Helvetica Neue"/>
                <a:cs typeface="Helvetica Neue"/>
              </a:defRPr>
            </a:pPr>
            <a:r>
              <a:rPr sz="1425" b="1" i="0">
                <a:solidFill>
                  <a:srgbClr val="1D6FA5"/>
                </a:solidFill>
                <a:latin typeface="Helvetica Neue"/>
                <a:ea typeface="Helvetica Neue"/>
                <a:cs typeface="Helvetica Neue"/>
              </a:rPr>
              <a:t>01  Customer</a:t>
            </a:r>
          </a:p>
        </p:txBody>
      </p:sp>
      <p:sp>
        <p:nvSpPr>
          <p:cNvPr id="6" name="">
            <a:extLst xmlns:a="http://schemas.openxmlformats.org/drawingml/2006/main">
              <a:ext uri="{FF2B5EF4-FFF2-40B4-BE49-F238E27FC236}">
                <a16:creationId xmlns:a16="http://schemas.microsoft.com/office/drawing/2014/main" id="{EBC52168-FDB0-46EF-B97B-DF00709D2B35}"/>
              </a:ext>
            </a:extLst>
          </p:cNvPr>
          <p:cNvSpPr>
            <a:spLocks xmlns:a="http://schemas.openxmlformats.org/drawingml/2006/main" noGrp="1"/>
          </p:cNvSpPr>
          <p:nvPr/>
        </p:nvSpPr>
        <p:spPr>
          <a:xfrm xmlns:a="http://schemas.openxmlformats.org/drawingml/2006/main">
            <a:off x="723900" y="2076450"/>
            <a:ext cx="29908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Mobile app</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Company profile and compliance tasks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Documents and approvals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AI intake for every new issue</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Status, notifications and billing</a:t>
            </a:r>
          </a:p>
        </p:txBody>
      </p:sp>
      <p:sp>
        <p:nvSpPr>
          <p:cNvPr id="7" name="">
            <a:extLst xmlns:a="http://schemas.openxmlformats.org/drawingml/2006/main">
              <a:ext uri="{FF2B5EF4-FFF2-40B4-BE49-F238E27FC236}">
                <a16:creationId xmlns:a16="http://schemas.microsoft.com/office/drawing/2014/main" id="{E699CA21-0669-4730-945A-AE434899B536}"/>
              </a:ext>
            </a:extLst>
          </p:cNvPr>
          <p:cNvSpPr>
            <a:spLocks xmlns:a="http://schemas.openxmlformats.org/drawingml/2006/main" noGrp="1"/>
          </p:cNvSpPr>
          <p:nvPr/>
        </p:nvSpPr>
        <p:spPr>
          <a:xfrm xmlns:a="http://schemas.openxmlformats.org/drawingml/2006/main">
            <a:off x="4429125" y="1571625"/>
            <a:ext cx="3333750" cy="28575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5CCAF10C-F2BE-49BF-85A5-C9141F11EC4F}"/>
              </a:ext>
            </a:extLst>
          </p:cNvPr>
          <p:cNvSpPr>
            <a:spLocks xmlns:a="http://schemas.openxmlformats.org/drawingml/2006/main" noGrp="1"/>
          </p:cNvSpPr>
          <p:nvPr/>
        </p:nvSpPr>
        <p:spPr>
          <a:xfrm xmlns:a="http://schemas.openxmlformats.org/drawingml/2006/main">
            <a:off x="4600575" y="173355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087E8B"/>
                </a:solidFill>
                <a:latin typeface="Helvetica Neue"/>
                <a:ea typeface="Helvetica Neue"/>
                <a:cs typeface="Helvetica Neue"/>
              </a:defRPr>
            </a:pPr>
            <a:r>
              <a:rPr sz="1425" b="1" i="0">
                <a:solidFill>
                  <a:srgbClr val="087E8B"/>
                </a:solidFill>
                <a:latin typeface="Helvetica Neue"/>
                <a:ea typeface="Helvetica Neue"/>
                <a:cs typeface="Helvetica Neue"/>
              </a:rPr>
              <a:t>02  Secretary firm</a:t>
            </a:r>
          </a:p>
        </p:txBody>
      </p:sp>
      <p:sp>
        <p:nvSpPr>
          <p:cNvPr id="9" name="">
            <a:extLst xmlns:a="http://schemas.openxmlformats.org/drawingml/2006/main">
              <a:ext uri="{FF2B5EF4-FFF2-40B4-BE49-F238E27FC236}">
                <a16:creationId xmlns:a16="http://schemas.microsoft.com/office/drawing/2014/main" id="{FA02AD7C-71F0-4E53-A236-BCB52619922A}"/>
              </a:ext>
            </a:extLst>
          </p:cNvPr>
          <p:cNvSpPr>
            <a:spLocks xmlns:a="http://schemas.openxmlformats.org/drawingml/2006/main" noGrp="1"/>
          </p:cNvSpPr>
          <p:nvPr/>
        </p:nvSpPr>
        <p:spPr>
          <a:xfrm xmlns:a="http://schemas.openxmlformats.org/drawingml/2006/main">
            <a:off x="4600575" y="2076450"/>
            <a:ext cx="29908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Web workspace</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Assigned client portfolio</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Human chat and case work</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Filing calendar and evidence</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Team workload and quality controls</a:t>
            </a:r>
          </a:p>
        </p:txBody>
      </p:sp>
      <p:sp>
        <p:nvSpPr>
          <p:cNvPr id="10" name="">
            <a:extLst xmlns:a="http://schemas.openxmlformats.org/drawingml/2006/main">
              <a:ext uri="{FF2B5EF4-FFF2-40B4-BE49-F238E27FC236}">
                <a16:creationId xmlns:a16="http://schemas.microsoft.com/office/drawing/2014/main" id="{2CDB2F34-9280-4F35-882D-9CC94EAF2CDB}"/>
              </a:ext>
            </a:extLst>
          </p:cNvPr>
          <p:cNvSpPr>
            <a:spLocks xmlns:a="http://schemas.openxmlformats.org/drawingml/2006/main" noGrp="1"/>
          </p:cNvSpPr>
          <p:nvPr/>
        </p:nvSpPr>
        <p:spPr>
          <a:xfrm xmlns:a="http://schemas.openxmlformats.org/drawingml/2006/main">
            <a:off x="8305800" y="1571625"/>
            <a:ext cx="3333750" cy="28575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194420A6-DB13-48EC-A3A7-44D6AEDF97DD}"/>
              </a:ext>
            </a:extLst>
          </p:cNvPr>
          <p:cNvSpPr>
            <a:spLocks xmlns:a="http://schemas.openxmlformats.org/drawingml/2006/main" noGrp="1"/>
          </p:cNvSpPr>
          <p:nvPr/>
        </p:nvSpPr>
        <p:spPr>
          <a:xfrm xmlns:a="http://schemas.openxmlformats.org/drawingml/2006/main">
            <a:off x="8477250" y="173355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03  MySect admin</a:t>
            </a:r>
          </a:p>
        </p:txBody>
      </p:sp>
      <p:sp>
        <p:nvSpPr>
          <p:cNvPr id="12" name="">
            <a:extLst xmlns:a="http://schemas.openxmlformats.org/drawingml/2006/main">
              <a:ext uri="{FF2B5EF4-FFF2-40B4-BE49-F238E27FC236}">
                <a16:creationId xmlns:a16="http://schemas.microsoft.com/office/drawing/2014/main" id="{DF1B9177-70B0-43FA-8CED-E4EA1B884FF5}"/>
              </a:ext>
            </a:extLst>
          </p:cNvPr>
          <p:cNvSpPr>
            <a:spLocks xmlns:a="http://schemas.openxmlformats.org/drawingml/2006/main" noGrp="1"/>
          </p:cNvSpPr>
          <p:nvPr/>
        </p:nvSpPr>
        <p:spPr>
          <a:xfrm xmlns:a="http://schemas.openxmlformats.org/drawingml/2006/main">
            <a:off x="8477250" y="2076450"/>
            <a:ext cx="299085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Admin console</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Tenants, firms, users and plans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Escalation and SLA monitoring</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Audit, security and reporting</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 Configuration and support</a:t>
            </a:r>
          </a:p>
        </p:txBody>
      </p:sp>
      <p:sp>
        <p:nvSpPr>
          <p:cNvPr id="13" name="">
            <a:extLst xmlns:a="http://schemas.openxmlformats.org/drawingml/2006/main">
              <a:ext uri="{FF2B5EF4-FFF2-40B4-BE49-F238E27FC236}">
                <a16:creationId xmlns:a16="http://schemas.microsoft.com/office/drawing/2014/main" id="{202162B7-9ADE-4CBB-88B3-F96F900779A7}"/>
              </a:ext>
            </a:extLst>
          </p:cNvPr>
          <p:cNvSpPr>
            <a:spLocks xmlns:a="http://schemas.openxmlformats.org/drawingml/2006/main" noGrp="1"/>
          </p:cNvSpPr>
          <p:nvPr/>
        </p:nvSpPr>
        <p:spPr>
          <a:xfrm xmlns:a="http://schemas.openxmlformats.org/drawingml/2006/main">
            <a:off x="1238250" y="5048250"/>
            <a:ext cx="9715500" cy="666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123B6D"/>
                </a:solidFill>
                <a:latin typeface="Helvetica Neue"/>
                <a:ea typeface="Helvetica Neue"/>
                <a:cs typeface="Helvetica Neue"/>
              </a:defRPr>
            </a:pPr>
            <a:r>
              <a:rPr sz="1650" b="1" i="0">
                <a:solidFill>
                  <a:srgbClr val="123B6D"/>
                </a:solidFill>
                <a:latin typeface="Helvetica Neue"/>
                <a:ea typeface="Helvetica Neue"/>
                <a:cs typeface="Helvetica Neue"/>
              </a:rPr>
              <a:t>The commercial value is not “another chat app”. It is a traceable workflow that turns a customer request into an owned, reviewable company-secretary case.</a:t>
            </a:r>
          </a:p>
        </p:txBody>
      </p:sp>
    </p:spTree>
    <p:extLst>
      <p:ext uri="{BB962C8B-B14F-4D97-AF65-F5344CB8AC3E}">
        <p14:creationId xmlns:p14="http://schemas.microsoft.com/office/powerpoint/2010/main" val="166457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9D957AA-9356-44DD-915F-623C17DBD3A7}"/>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38BE4C0B-6749-45DC-A14E-6435C96E60A4}"/>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What each product needs to contain</a:t>
            </a:r>
          </a:p>
        </p:txBody>
      </p:sp>
      <p:sp>
        <p:nvSpPr>
          <p:cNvPr id="3" name="">
            <a:extLst xmlns:a="http://schemas.openxmlformats.org/drawingml/2006/main">
              <a:ext uri="{FF2B5EF4-FFF2-40B4-BE49-F238E27FC236}">
                <a16:creationId xmlns:a16="http://schemas.microsoft.com/office/drawing/2014/main" id="{4811F2C4-CFE0-4994-B25C-FD51B7155FBB}"/>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1A62417F-8B61-4C94-81AD-8B72CEC53C55}"/>
              </a:ext>
            </a:extLst>
          </p:cNvPr>
          <p:cNvSpPr>
            <a:spLocks xmlns:a="http://schemas.openxmlformats.org/drawingml/2006/main" noGrp="1"/>
          </p:cNvSpPr>
          <p:nvPr/>
        </p:nvSpPr>
        <p:spPr>
          <a:xfrm xmlns:a="http://schemas.openxmlformats.org/drawingml/2006/main">
            <a:off x="552450" y="1476375"/>
            <a:ext cx="3333750" cy="37147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95F03D6F-19D9-4B60-91EC-E7D82A557D53}"/>
              </a:ext>
            </a:extLst>
          </p:cNvPr>
          <p:cNvSpPr>
            <a:spLocks xmlns:a="http://schemas.openxmlformats.org/drawingml/2006/main" noGrp="1"/>
          </p:cNvSpPr>
          <p:nvPr/>
        </p:nvSpPr>
        <p:spPr>
          <a:xfrm xmlns:a="http://schemas.openxmlformats.org/drawingml/2006/main">
            <a:off x="723900" y="163830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1D6FA5"/>
                </a:solidFill>
                <a:latin typeface="Helvetica Neue"/>
                <a:ea typeface="Helvetica Neue"/>
                <a:cs typeface="Helvetica Neue"/>
              </a:defRPr>
            </a:pPr>
            <a:r>
              <a:rPr sz="1425" b="1" i="0">
                <a:solidFill>
                  <a:srgbClr val="1D6FA5"/>
                </a:solidFill>
                <a:latin typeface="Helvetica Neue"/>
                <a:ea typeface="Helvetica Neue"/>
                <a:cs typeface="Helvetica Neue"/>
              </a:rPr>
              <a:t>Customer app</a:t>
            </a:r>
          </a:p>
        </p:txBody>
      </p:sp>
      <p:sp>
        <p:nvSpPr>
          <p:cNvPr id="6" name="">
            <a:extLst xmlns:a="http://schemas.openxmlformats.org/drawingml/2006/main">
              <a:ext uri="{FF2B5EF4-FFF2-40B4-BE49-F238E27FC236}">
                <a16:creationId xmlns:a16="http://schemas.microsoft.com/office/drawing/2014/main" id="{5DCFA9C8-A894-4AFF-AC63-FE8072BE039B}"/>
              </a:ext>
            </a:extLst>
          </p:cNvPr>
          <p:cNvSpPr>
            <a:spLocks xmlns:a="http://schemas.openxmlformats.org/drawingml/2006/main" noGrp="1"/>
          </p:cNvSpPr>
          <p:nvPr/>
        </p:nvSpPr>
        <p:spPr>
          <a:xfrm xmlns:a="http://schemas.openxmlformats.org/drawingml/2006/main">
            <a:off x="723900" y="1981200"/>
            <a:ext cx="2990850" cy="3067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Home and companies</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Ask MySect AI</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Requests and status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Documents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Approvals and signatures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Notifications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Billing and profile</a:t>
            </a:r>
          </a:p>
        </p:txBody>
      </p:sp>
      <p:sp>
        <p:nvSpPr>
          <p:cNvPr id="7" name="">
            <a:extLst xmlns:a="http://schemas.openxmlformats.org/drawingml/2006/main">
              <a:ext uri="{FF2B5EF4-FFF2-40B4-BE49-F238E27FC236}">
                <a16:creationId xmlns:a16="http://schemas.microsoft.com/office/drawing/2014/main" id="{B6A91A77-57E2-4765-B84E-C84D6E4D137B}"/>
              </a:ext>
            </a:extLst>
          </p:cNvPr>
          <p:cNvSpPr>
            <a:spLocks xmlns:a="http://schemas.openxmlformats.org/drawingml/2006/main" noGrp="1"/>
          </p:cNvSpPr>
          <p:nvPr/>
        </p:nvSpPr>
        <p:spPr>
          <a:xfrm xmlns:a="http://schemas.openxmlformats.org/drawingml/2006/main">
            <a:off x="4429125" y="1476375"/>
            <a:ext cx="3333750" cy="37147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2E5D9916-EB35-47BD-963A-1E8B73481773}"/>
              </a:ext>
            </a:extLst>
          </p:cNvPr>
          <p:cNvSpPr>
            <a:spLocks xmlns:a="http://schemas.openxmlformats.org/drawingml/2006/main" noGrp="1"/>
          </p:cNvSpPr>
          <p:nvPr/>
        </p:nvSpPr>
        <p:spPr>
          <a:xfrm xmlns:a="http://schemas.openxmlformats.org/drawingml/2006/main">
            <a:off x="4600575" y="163830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087E8B"/>
                </a:solidFill>
                <a:latin typeface="Helvetica Neue"/>
                <a:ea typeface="Helvetica Neue"/>
                <a:cs typeface="Helvetica Neue"/>
              </a:defRPr>
            </a:pPr>
            <a:r>
              <a:rPr sz="1425" b="1" i="0">
                <a:solidFill>
                  <a:srgbClr val="087E8B"/>
                </a:solidFill>
                <a:latin typeface="Helvetica Neue"/>
                <a:ea typeface="Helvetica Neue"/>
                <a:cs typeface="Helvetica Neue"/>
              </a:rPr>
              <a:t>Secretary website</a:t>
            </a:r>
          </a:p>
        </p:txBody>
      </p:sp>
      <p:sp>
        <p:nvSpPr>
          <p:cNvPr id="9" name="">
            <a:extLst xmlns:a="http://schemas.openxmlformats.org/drawingml/2006/main">
              <a:ext uri="{FF2B5EF4-FFF2-40B4-BE49-F238E27FC236}">
                <a16:creationId xmlns:a16="http://schemas.microsoft.com/office/drawing/2014/main" id="{55990EC0-25E0-442B-9A06-A528EFA93ACA}"/>
              </a:ext>
            </a:extLst>
          </p:cNvPr>
          <p:cNvSpPr>
            <a:spLocks xmlns:a="http://schemas.openxmlformats.org/drawingml/2006/main" noGrp="1"/>
          </p:cNvSpPr>
          <p:nvPr/>
        </p:nvSpPr>
        <p:spPr>
          <a:xfrm xmlns:a="http://schemas.openxmlformats.org/drawingml/2006/main">
            <a:off x="4600575" y="1981200"/>
            <a:ext cx="2990850" cy="3067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Dashboard and work queue</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AI escalations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Company workspace</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Human customer conversation</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Compliance calendar</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Team and reports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Firm settings</a:t>
            </a:r>
          </a:p>
        </p:txBody>
      </p:sp>
      <p:sp>
        <p:nvSpPr>
          <p:cNvPr id="10" name="">
            <a:extLst xmlns:a="http://schemas.openxmlformats.org/drawingml/2006/main">
              <a:ext uri="{FF2B5EF4-FFF2-40B4-BE49-F238E27FC236}">
                <a16:creationId xmlns:a16="http://schemas.microsoft.com/office/drawing/2014/main" id="{977C08E1-BAB8-46CA-87DB-851E982E4A16}"/>
              </a:ext>
            </a:extLst>
          </p:cNvPr>
          <p:cNvSpPr>
            <a:spLocks xmlns:a="http://schemas.openxmlformats.org/drawingml/2006/main" noGrp="1"/>
          </p:cNvSpPr>
          <p:nvPr/>
        </p:nvSpPr>
        <p:spPr>
          <a:xfrm xmlns:a="http://schemas.openxmlformats.org/drawingml/2006/main">
            <a:off x="8305800" y="1476375"/>
            <a:ext cx="3333750" cy="37147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0AB9486B-CE1E-4B34-9013-ABC4FE89EE5D}"/>
              </a:ext>
            </a:extLst>
          </p:cNvPr>
          <p:cNvSpPr>
            <a:spLocks xmlns:a="http://schemas.openxmlformats.org/drawingml/2006/main" noGrp="1"/>
          </p:cNvSpPr>
          <p:nvPr/>
        </p:nvSpPr>
        <p:spPr>
          <a:xfrm xmlns:a="http://schemas.openxmlformats.org/drawingml/2006/main">
            <a:off x="8477250" y="1638300"/>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MySect admin website</a:t>
            </a:r>
          </a:p>
        </p:txBody>
      </p:sp>
      <p:sp>
        <p:nvSpPr>
          <p:cNvPr id="12" name="">
            <a:extLst xmlns:a="http://schemas.openxmlformats.org/drawingml/2006/main">
              <a:ext uri="{FF2B5EF4-FFF2-40B4-BE49-F238E27FC236}">
                <a16:creationId xmlns:a16="http://schemas.microsoft.com/office/drawing/2014/main" id="{4F643B39-DD84-4976-B390-3F5B276D5EE6}"/>
              </a:ext>
            </a:extLst>
          </p:cNvPr>
          <p:cNvSpPr>
            <a:spLocks xmlns:a="http://schemas.openxmlformats.org/drawingml/2006/main" noGrp="1"/>
          </p:cNvSpPr>
          <p:nvPr/>
        </p:nvSpPr>
        <p:spPr>
          <a:xfrm xmlns:a="http://schemas.openxmlformats.org/drawingml/2006/main">
            <a:off x="8477250" y="1981200"/>
            <a:ext cx="2990850" cy="3067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Platform dashboard</a:t>
            </a:r>
          </a:p>
          <a:p xmlns:a="http://schemas.openxmlformats.org/drawingml/2006/main">
            <a:r>
              <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Firm onboarding</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Companies and assignments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Plans and subscriptions</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Payments and support</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Audit and security</a:t>
            </a:r>
          </a:p>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Reports and settings</a:t>
            </a:r>
          </a:p>
        </p:txBody>
      </p:sp>
      <p:sp>
        <p:nvSpPr>
          <p:cNvPr id="13" name="">
            <a:extLst xmlns:a="http://schemas.openxmlformats.org/drawingml/2006/main">
              <a:ext uri="{FF2B5EF4-FFF2-40B4-BE49-F238E27FC236}">
                <a16:creationId xmlns:a16="http://schemas.microsoft.com/office/drawing/2014/main" id="{648C9154-44B3-4F41-8A86-14C410886355}"/>
              </a:ext>
            </a:extLst>
          </p:cNvPr>
          <p:cNvSpPr>
            <a:spLocks xmlns:a="http://schemas.openxmlformats.org/drawingml/2006/main" noGrp="1"/>
          </p:cNvSpPr>
          <p:nvPr/>
        </p:nvSpPr>
        <p:spPr>
          <a:xfrm xmlns:a="http://schemas.openxmlformats.org/drawingml/2006/main">
            <a:off x="857250" y="56388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For the first three months, build the pages needed for one complete customer request from intake to secretary completion.</a:t>
            </a:r>
          </a:p>
        </p:txBody>
      </p:sp>
    </p:spTree>
    <p:extLst>
      <p:ext uri="{BB962C8B-B14F-4D97-AF65-F5344CB8AC3E}">
        <p14:creationId xmlns:p14="http://schemas.microsoft.com/office/powerpoint/2010/main" val="9764611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38FF3D4-495D-4B6E-9F33-2B16D10242F1}"/>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20C52F30-319B-4821-8398-C0D17912A433}"/>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How the three products work together</a:t>
            </a:r>
          </a:p>
        </p:txBody>
      </p:sp>
      <p:sp>
        <p:nvSpPr>
          <p:cNvPr id="3" name="">
            <a:extLst xmlns:a="http://schemas.openxmlformats.org/drawingml/2006/main">
              <a:ext uri="{FF2B5EF4-FFF2-40B4-BE49-F238E27FC236}">
                <a16:creationId xmlns:a16="http://schemas.microsoft.com/office/drawing/2014/main" id="{6F43678E-EE58-4A96-86BA-E4957086672E}"/>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39D1F963-2303-4ECD-9216-189246E1186B}"/>
              </a:ext>
            </a:extLst>
          </p:cNvPr>
          <p:cNvSpPr>
            <a:spLocks xmlns:a="http://schemas.openxmlformats.org/drawingml/2006/main" noGrp="1"/>
          </p:cNvSpPr>
          <p:nvPr/>
        </p:nvSpPr>
        <p:spPr>
          <a:xfrm xmlns:a="http://schemas.openxmlformats.org/drawingml/2006/main">
            <a:off x="619125" y="1476375"/>
            <a:ext cx="10953750" cy="64770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Customer app        Secretary workspace        MySect admin</a:t>
            </a:r>
          </a:p>
        </p:txBody>
      </p:sp>
      <p:sp>
        <p:nvSpPr>
          <p:cNvPr id="5" name="">
            <a:extLst xmlns:a="http://schemas.openxmlformats.org/drawingml/2006/main">
              <a:ext uri="{FF2B5EF4-FFF2-40B4-BE49-F238E27FC236}">
                <a16:creationId xmlns:a16="http://schemas.microsoft.com/office/drawing/2014/main" id="{EE7E7AAA-44F0-470B-BCD9-E8B2C3531C6A}"/>
              </a:ext>
            </a:extLst>
          </p:cNvPr>
          <p:cNvSpPr>
            <a:spLocks xmlns:a="http://schemas.openxmlformats.org/drawingml/2006/main" noGrp="1"/>
          </p:cNvSpPr>
          <p:nvPr/>
        </p:nvSpPr>
        <p:spPr>
          <a:xfrm xmlns:a="http://schemas.openxmlformats.org/drawingml/2006/main">
            <a:off x="619125" y="2571750"/>
            <a:ext cx="10953750" cy="666750"/>
          </a:xfrm>
          <a:prstGeom xmlns:a="http://schemas.openxmlformats.org/drawingml/2006/main" prst="rect">
            <a:avLst/>
          </a:prstGeom>
          <a:solidFill xmlns:a="http://schemas.openxmlformats.org/drawingml/2006/main">
            <a:srgbClr val="1D6FA5"/>
          </a:solidFill>
          <a:ln xmlns:a="http://schemas.openxmlformats.org/drawingml/2006/main" w="9525">
            <a:solidFill>
              <a:srgbClr val="1D6FA5"/>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One shared MySect service centre</a:t>
            </a:r>
          </a:p>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Keeps the right information with the right people</a:t>
            </a:r>
          </a:p>
        </p:txBody>
      </p:sp>
      <p:sp>
        <p:nvSpPr>
          <p:cNvPr id="6" name="">
            <a:extLst xmlns:a="http://schemas.openxmlformats.org/drawingml/2006/main">
              <a:ext uri="{FF2B5EF4-FFF2-40B4-BE49-F238E27FC236}">
                <a16:creationId xmlns:a16="http://schemas.microsoft.com/office/drawing/2014/main" id="{34944028-ECC9-4EAD-995D-6D47D093FA9C}"/>
              </a:ext>
            </a:extLst>
          </p:cNvPr>
          <p:cNvSpPr>
            <a:spLocks xmlns:a="http://schemas.openxmlformats.org/drawingml/2006/main" noGrp="1"/>
          </p:cNvSpPr>
          <p:nvPr/>
        </p:nvSpPr>
        <p:spPr>
          <a:xfrm xmlns:a="http://schemas.openxmlformats.org/drawingml/2006/main">
            <a:off x="619125"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Customer requests</a:t>
            </a:r>
          </a:p>
        </p:txBody>
      </p:sp>
      <p:sp>
        <p:nvSpPr>
          <p:cNvPr id="7" name="">
            <a:extLst xmlns:a="http://schemas.openxmlformats.org/drawingml/2006/main">
              <a:ext uri="{FF2B5EF4-FFF2-40B4-BE49-F238E27FC236}">
                <a16:creationId xmlns:a16="http://schemas.microsoft.com/office/drawing/2014/main" id="{8C61A515-084C-43DA-A90F-184DA1037218}"/>
              </a:ext>
            </a:extLst>
          </p:cNvPr>
          <p:cNvSpPr>
            <a:spLocks xmlns:a="http://schemas.openxmlformats.org/drawingml/2006/main" noGrp="1"/>
          </p:cNvSpPr>
          <p:nvPr/>
        </p:nvSpPr>
        <p:spPr>
          <a:xfrm xmlns:a="http://schemas.openxmlformats.org/drawingml/2006/main">
            <a:off x="2857500"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Documents</a:t>
            </a:r>
          </a:p>
        </p:txBody>
      </p:sp>
      <p:sp>
        <p:nvSpPr>
          <p:cNvPr id="8" name="">
            <a:extLst xmlns:a="http://schemas.openxmlformats.org/drawingml/2006/main">
              <a:ext uri="{FF2B5EF4-FFF2-40B4-BE49-F238E27FC236}">
                <a16:creationId xmlns:a16="http://schemas.microsoft.com/office/drawing/2014/main" id="{3A7A19B2-6A4A-46F0-8F3F-0E9B2A83D4A1}"/>
              </a:ext>
            </a:extLst>
          </p:cNvPr>
          <p:cNvSpPr>
            <a:spLocks xmlns:a="http://schemas.openxmlformats.org/drawingml/2006/main" noGrp="1"/>
          </p:cNvSpPr>
          <p:nvPr/>
        </p:nvSpPr>
        <p:spPr>
          <a:xfrm xmlns:a="http://schemas.openxmlformats.org/drawingml/2006/main">
            <a:off x="5095875"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Company tasks</a:t>
            </a:r>
          </a:p>
        </p:txBody>
      </p:sp>
      <p:sp>
        <p:nvSpPr>
          <p:cNvPr id="9" name="">
            <a:extLst xmlns:a="http://schemas.openxmlformats.org/drawingml/2006/main">
              <a:ext uri="{FF2B5EF4-FFF2-40B4-BE49-F238E27FC236}">
                <a16:creationId xmlns:a16="http://schemas.microsoft.com/office/drawing/2014/main" id="{E1B00DCA-A376-430C-88CA-C1CBE306801A}"/>
              </a:ext>
            </a:extLst>
          </p:cNvPr>
          <p:cNvSpPr>
            <a:spLocks xmlns:a="http://schemas.openxmlformats.org/drawingml/2006/main" noGrp="1"/>
          </p:cNvSpPr>
          <p:nvPr/>
        </p:nvSpPr>
        <p:spPr>
          <a:xfrm xmlns:a="http://schemas.openxmlformats.org/drawingml/2006/main">
            <a:off x="7334250"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Payments</a:t>
            </a:r>
          </a:p>
        </p:txBody>
      </p:sp>
      <p:sp>
        <p:nvSpPr>
          <p:cNvPr id="10" name="">
            <a:extLst xmlns:a="http://schemas.openxmlformats.org/drawingml/2006/main">
              <a:ext uri="{FF2B5EF4-FFF2-40B4-BE49-F238E27FC236}">
                <a16:creationId xmlns:a16="http://schemas.microsoft.com/office/drawing/2014/main" id="{5A17A4B6-6D84-43EF-A55A-F9DB898F9369}"/>
              </a:ext>
            </a:extLst>
          </p:cNvPr>
          <p:cNvSpPr>
            <a:spLocks xmlns:a="http://schemas.openxmlformats.org/drawingml/2006/main" noGrp="1"/>
          </p:cNvSpPr>
          <p:nvPr/>
        </p:nvSpPr>
        <p:spPr>
          <a:xfrm xmlns:a="http://schemas.openxmlformats.org/drawingml/2006/main">
            <a:off x="9572625" y="3714750"/>
            <a:ext cx="1809750" cy="7810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AI assistance</a:t>
            </a:r>
          </a:p>
        </p:txBody>
      </p:sp>
      <p:sp>
        <p:nvSpPr>
          <p:cNvPr id="11" name="">
            <a:extLst xmlns:a="http://schemas.openxmlformats.org/drawingml/2006/main">
              <a:ext uri="{FF2B5EF4-FFF2-40B4-BE49-F238E27FC236}">
                <a16:creationId xmlns:a16="http://schemas.microsoft.com/office/drawing/2014/main" id="{6A6860D6-D416-40BE-A271-628842269EED}"/>
              </a:ext>
            </a:extLst>
          </p:cNvPr>
          <p:cNvSpPr>
            <a:spLocks xmlns:a="http://schemas.openxmlformats.org/drawingml/2006/main" noGrp="1"/>
          </p:cNvSpPr>
          <p:nvPr/>
        </p:nvSpPr>
        <p:spPr>
          <a:xfrm xmlns:a="http://schemas.openxmlformats.org/drawingml/2006/main">
            <a:off x="619125" y="4953000"/>
            <a:ext cx="5238750" cy="666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Company records</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people, companies, tasks, payments and history</a:t>
            </a:r>
          </a:p>
        </p:txBody>
      </p:sp>
      <p:sp>
        <p:nvSpPr>
          <p:cNvPr id="12" name="">
            <a:extLst xmlns:a="http://schemas.openxmlformats.org/drawingml/2006/main">
              <a:ext uri="{FF2B5EF4-FFF2-40B4-BE49-F238E27FC236}">
                <a16:creationId xmlns:a16="http://schemas.microsoft.com/office/drawing/2014/main" id="{F071B69E-F215-4013-9D16-5B35E1B1DF51}"/>
              </a:ext>
            </a:extLst>
          </p:cNvPr>
          <p:cNvSpPr>
            <a:spLocks xmlns:a="http://schemas.openxmlformats.org/drawingml/2006/main" noGrp="1"/>
          </p:cNvSpPr>
          <p:nvPr/>
        </p:nvSpPr>
        <p:spPr>
          <a:xfrm xmlns:a="http://schemas.openxmlformats.org/drawingml/2006/main">
            <a:off x="6334125" y="4953000"/>
            <a:ext cx="5238750" cy="666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Secure document storage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original files, version history and controlled access</a:t>
            </a:r>
          </a:p>
        </p:txBody>
      </p:sp>
    </p:spTree>
    <p:extLst>
      <p:ext uri="{BB962C8B-B14F-4D97-AF65-F5344CB8AC3E}">
        <p14:creationId xmlns:p14="http://schemas.microsoft.com/office/powerpoint/2010/main" val="14580837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90A66F0-41A6-4426-92F8-E6160321EBCA}"/>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64C52827-1171-45F2-A694-544FE05AD0AB}"/>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Customer support should be AI-first, not human-chat-first</a:t>
            </a:r>
          </a:p>
        </p:txBody>
      </p:sp>
      <p:sp>
        <p:nvSpPr>
          <p:cNvPr id="3" name="">
            <a:extLst xmlns:a="http://schemas.openxmlformats.org/drawingml/2006/main">
              <a:ext uri="{FF2B5EF4-FFF2-40B4-BE49-F238E27FC236}">
                <a16:creationId xmlns:a16="http://schemas.microsoft.com/office/drawing/2014/main" id="{4139B73E-B6C7-4B6E-AE34-5483BA507EEE}"/>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BBE1EDBC-D28F-480E-965E-4E1486328AEF}"/>
              </a:ext>
            </a:extLst>
          </p:cNvPr>
          <p:cNvSpPr>
            <a:spLocks xmlns:a="http://schemas.openxmlformats.org/drawingml/2006/main" noGrp="1"/>
          </p:cNvSpPr>
          <p:nvPr/>
        </p:nvSpPr>
        <p:spPr>
          <a:xfrm xmlns:a="http://schemas.openxmlformats.org/drawingml/2006/main">
            <a:off x="5524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D047AB89-C8D5-46C8-BDFA-F4A50F7DD862}"/>
              </a:ext>
            </a:extLst>
          </p:cNvPr>
          <p:cNvSpPr>
            <a:spLocks xmlns:a="http://schemas.openxmlformats.org/drawingml/2006/main" noGrp="1"/>
          </p:cNvSpPr>
          <p:nvPr/>
        </p:nvSpPr>
        <p:spPr>
          <a:xfrm xmlns:a="http://schemas.openxmlformats.org/drawingml/2006/main">
            <a:off x="12001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Customer asks AI</a:t>
            </a:r>
          </a:p>
        </p:txBody>
      </p:sp>
      <p:sp>
        <p:nvSpPr>
          <p:cNvPr id="6" name="">
            <a:extLst xmlns:a="http://schemas.openxmlformats.org/drawingml/2006/main">
              <a:ext uri="{FF2B5EF4-FFF2-40B4-BE49-F238E27FC236}">
                <a16:creationId xmlns:a16="http://schemas.microsoft.com/office/drawing/2014/main" id="{89562FBF-81AA-4FC6-9AEC-2ECD4CBEEE0C}"/>
              </a:ext>
            </a:extLst>
          </p:cNvPr>
          <p:cNvSpPr>
            <a:spLocks xmlns:a="http://schemas.openxmlformats.org/drawingml/2006/main" noGrp="1"/>
          </p:cNvSpPr>
          <p:nvPr/>
        </p:nvSpPr>
        <p:spPr>
          <a:xfrm xmlns:a="http://schemas.openxmlformats.org/drawingml/2006/main">
            <a:off x="12001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The AI identifies intent, company context, urgency and missing information.</a:t>
            </a:r>
          </a:p>
        </p:txBody>
      </p:sp>
      <p:sp>
        <p:nvSpPr>
          <p:cNvPr id="7" name="">
            <a:extLst xmlns:a="http://schemas.openxmlformats.org/drawingml/2006/main">
              <a:ext uri="{FF2B5EF4-FFF2-40B4-BE49-F238E27FC236}">
                <a16:creationId xmlns:a16="http://schemas.microsoft.com/office/drawing/2014/main" id="{42CC0B81-31CA-4C31-9684-EBE0478210A2}"/>
              </a:ext>
            </a:extLst>
          </p:cNvPr>
          <p:cNvSpPr>
            <a:spLocks xmlns:a="http://schemas.openxmlformats.org/drawingml/2006/main" noGrp="1"/>
          </p:cNvSpPr>
          <p:nvPr/>
        </p:nvSpPr>
        <p:spPr>
          <a:xfrm xmlns:a="http://schemas.openxmlformats.org/drawingml/2006/main">
            <a:off x="34099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FB121DE8-4290-475C-B7A6-D76B46FB4D2D}"/>
              </a:ext>
            </a:extLst>
          </p:cNvPr>
          <p:cNvSpPr>
            <a:spLocks xmlns:a="http://schemas.openxmlformats.org/drawingml/2006/main" noGrp="1"/>
          </p:cNvSpPr>
          <p:nvPr/>
        </p:nvSpPr>
        <p:spPr>
          <a:xfrm xmlns:a="http://schemas.openxmlformats.org/drawingml/2006/main">
            <a:off x="40576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AI creates case</a:t>
            </a:r>
          </a:p>
        </p:txBody>
      </p:sp>
      <p:sp>
        <p:nvSpPr>
          <p:cNvPr id="9" name="">
            <a:extLst xmlns:a="http://schemas.openxmlformats.org/drawingml/2006/main">
              <a:ext uri="{FF2B5EF4-FFF2-40B4-BE49-F238E27FC236}">
                <a16:creationId xmlns:a16="http://schemas.microsoft.com/office/drawing/2014/main" id="{88A65B30-70E4-4D25-A3C1-9AC19A95C75E}"/>
              </a:ext>
            </a:extLst>
          </p:cNvPr>
          <p:cNvSpPr>
            <a:spLocks xmlns:a="http://schemas.openxmlformats.org/drawingml/2006/main" noGrp="1"/>
          </p:cNvSpPr>
          <p:nvPr/>
        </p:nvSpPr>
        <p:spPr>
          <a:xfrm xmlns:a="http://schemas.openxmlformats.org/drawingml/2006/main">
            <a:off x="40576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Structured summary, category, priority, suggested next action and evidence checklist.</a:t>
            </a:r>
          </a:p>
        </p:txBody>
      </p:sp>
      <p:sp>
        <p:nvSpPr>
          <p:cNvPr id="10" name="">
            <a:extLst xmlns:a="http://schemas.openxmlformats.org/drawingml/2006/main">
              <a:ext uri="{FF2B5EF4-FFF2-40B4-BE49-F238E27FC236}">
                <a16:creationId xmlns:a16="http://schemas.microsoft.com/office/drawing/2014/main" id="{0FAE7764-D5D6-4985-BABC-C57C73D2CEDA}"/>
              </a:ext>
            </a:extLst>
          </p:cNvPr>
          <p:cNvSpPr>
            <a:spLocks xmlns:a="http://schemas.openxmlformats.org/drawingml/2006/main" noGrp="1"/>
          </p:cNvSpPr>
          <p:nvPr/>
        </p:nvSpPr>
        <p:spPr>
          <a:xfrm xmlns:a="http://schemas.openxmlformats.org/drawingml/2006/main">
            <a:off x="62674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90F98A4A-C491-4BB5-A01F-0ADB7BC8273C}"/>
              </a:ext>
            </a:extLst>
          </p:cNvPr>
          <p:cNvSpPr>
            <a:spLocks xmlns:a="http://schemas.openxmlformats.org/drawingml/2006/main" noGrp="1"/>
          </p:cNvSpPr>
          <p:nvPr/>
        </p:nvSpPr>
        <p:spPr>
          <a:xfrm xmlns:a="http://schemas.openxmlformats.org/drawingml/2006/main">
            <a:off x="69151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Secretary notified</a:t>
            </a:r>
          </a:p>
        </p:txBody>
      </p:sp>
      <p:sp>
        <p:nvSpPr>
          <p:cNvPr id="12" name="">
            <a:extLst xmlns:a="http://schemas.openxmlformats.org/drawingml/2006/main">
              <a:ext uri="{FF2B5EF4-FFF2-40B4-BE49-F238E27FC236}">
                <a16:creationId xmlns:a16="http://schemas.microsoft.com/office/drawing/2014/main" id="{4B54DCF1-3A15-4D53-B39D-0E973B2A7252}"/>
              </a:ext>
            </a:extLst>
          </p:cNvPr>
          <p:cNvSpPr>
            <a:spLocks xmlns:a="http://schemas.openxmlformats.org/drawingml/2006/main" noGrp="1"/>
          </p:cNvSpPr>
          <p:nvPr/>
        </p:nvSpPr>
        <p:spPr>
          <a:xfrm xmlns:a="http://schemas.openxmlformats.org/drawingml/2006/main">
            <a:off x="69151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The case appears in the firm queue with SLA and full AI transcript.</a:t>
            </a:r>
          </a:p>
        </p:txBody>
      </p:sp>
      <p:sp>
        <p:nvSpPr>
          <p:cNvPr id="13" name="">
            <a:extLst xmlns:a="http://schemas.openxmlformats.org/drawingml/2006/main">
              <a:ext uri="{FF2B5EF4-FFF2-40B4-BE49-F238E27FC236}">
                <a16:creationId xmlns:a16="http://schemas.microsoft.com/office/drawing/2014/main" id="{EFDA7279-2709-43FC-B3B2-51FAFA5B110C}"/>
              </a:ext>
            </a:extLst>
          </p:cNvPr>
          <p:cNvSpPr>
            <a:spLocks xmlns:a="http://schemas.openxmlformats.org/drawingml/2006/main" noGrp="1"/>
          </p:cNvSpPr>
          <p:nvPr/>
        </p:nvSpPr>
        <p:spPr>
          <a:xfrm xmlns:a="http://schemas.openxmlformats.org/drawingml/2006/main">
            <a:off x="9124950" y="1619250"/>
            <a:ext cx="514350" cy="5143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BA35CB88-98B7-4C4D-AFC0-EF13FFD26E41}"/>
              </a:ext>
            </a:extLst>
          </p:cNvPr>
          <p:cNvSpPr>
            <a:spLocks xmlns:a="http://schemas.openxmlformats.org/drawingml/2006/main" noGrp="1"/>
          </p:cNvSpPr>
          <p:nvPr/>
        </p:nvSpPr>
        <p:spPr>
          <a:xfrm xmlns:a="http://schemas.openxmlformats.org/drawingml/2006/main">
            <a:off x="9772650" y="157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i="0">
                <a:solidFill>
                  <a:srgbClr val="123B6D"/>
                </a:solidFill>
                <a:latin typeface="Helvetica Neue"/>
                <a:ea typeface="Helvetica Neue"/>
                <a:cs typeface="Helvetica Neue"/>
              </a:defRPr>
            </a:pPr>
            <a:r>
              <a:rPr sz="1350" b="1" i="0">
                <a:solidFill>
                  <a:srgbClr val="123B6D"/>
                </a:solidFill>
                <a:latin typeface="Helvetica Neue"/>
                <a:ea typeface="Helvetica Neue"/>
                <a:cs typeface="Helvetica Neue"/>
              </a:rPr>
              <a:t>Human chat opens</a:t>
            </a:r>
          </a:p>
        </p:txBody>
      </p:sp>
      <p:sp>
        <p:nvSpPr>
          <p:cNvPr id="15" name="">
            <a:extLst xmlns:a="http://schemas.openxmlformats.org/drawingml/2006/main">
              <a:ext uri="{FF2B5EF4-FFF2-40B4-BE49-F238E27FC236}">
                <a16:creationId xmlns:a16="http://schemas.microsoft.com/office/drawing/2014/main" id="{5562038A-C55E-46CB-85B8-02A3427890E8}"/>
              </a:ext>
            </a:extLst>
          </p:cNvPr>
          <p:cNvSpPr>
            <a:spLocks xmlns:a="http://schemas.openxmlformats.org/drawingml/2006/main" noGrp="1"/>
          </p:cNvSpPr>
          <p:nvPr/>
        </p:nvSpPr>
        <p:spPr>
          <a:xfrm xmlns:a="http://schemas.openxmlformats.org/drawingml/2006/main">
            <a:off x="9772650" y="2000250"/>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Only an assigned secretary starts the human conversation when work or judgment is required.</a:t>
            </a:r>
          </a:p>
        </p:txBody>
      </p:sp>
      <p:sp>
        <p:nvSpPr>
          <p:cNvPr id="16" name="">
            <a:extLst xmlns:a="http://schemas.openxmlformats.org/drawingml/2006/main">
              <a:ext uri="{FF2B5EF4-FFF2-40B4-BE49-F238E27FC236}">
                <a16:creationId xmlns:a16="http://schemas.microsoft.com/office/drawing/2014/main" id="{294EEE37-24CD-428D-9C9B-6C3067C4BA33}"/>
              </a:ext>
            </a:extLst>
          </p:cNvPr>
          <p:cNvSpPr>
            <a:spLocks xmlns:a="http://schemas.openxmlformats.org/drawingml/2006/main" noGrp="1"/>
          </p:cNvSpPr>
          <p:nvPr/>
        </p:nvSpPr>
        <p:spPr>
          <a:xfrm xmlns:a="http://schemas.openxmlformats.org/drawingml/2006/main">
            <a:off x="666750" y="4000500"/>
            <a:ext cx="10858500" cy="1000125"/>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123B6D"/>
                </a:solidFill>
                <a:latin typeface="Helvetica Neue"/>
                <a:ea typeface="Helvetica Neue"/>
                <a:cs typeface="Helvetica Neue"/>
              </a:defRPr>
            </a:pPr>
            <a:r>
              <a:rPr sz="1650" b="1" i="0">
                <a:solidFill>
                  <a:srgbClr val="123B6D"/>
                </a:solidFill>
                <a:latin typeface="Helvetica Neue"/>
                <a:ea typeface="Helvetica Neue"/>
                <a:cs typeface="Helvetica Neue"/>
              </a:rPr>
              <a:t>Guardrails: no legal conclusion without review; no filing submission without an authorized human; no direct public file URLs; every AI action and handoff is logged.</a:t>
            </a:r>
          </a:p>
        </p:txBody>
      </p:sp>
      <p:sp>
        <p:nvSpPr>
          <p:cNvPr id="17" name="">
            <a:extLst xmlns:a="http://schemas.openxmlformats.org/drawingml/2006/main">
              <a:ext uri="{FF2B5EF4-FFF2-40B4-BE49-F238E27FC236}">
                <a16:creationId xmlns:a16="http://schemas.microsoft.com/office/drawing/2014/main" id="{AE44060F-9A48-4AA1-8A75-4A243528C3CD}"/>
              </a:ext>
            </a:extLst>
          </p:cNvPr>
          <p:cNvSpPr>
            <a:spLocks xmlns:a="http://schemas.openxmlformats.org/drawingml/2006/main" noGrp="1"/>
          </p:cNvSpPr>
          <p:nvPr/>
        </p:nvSpPr>
        <p:spPr>
          <a:xfrm xmlns:a="http://schemas.openxmlformats.org/drawingml/2006/main">
            <a:off x="742950" y="54768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087E8B"/>
                </a:solidFill>
                <a:latin typeface="Helvetica Neue"/>
                <a:ea typeface="Helvetica Neue"/>
                <a:cs typeface="Helvetica Neue"/>
              </a:defRPr>
            </a:pPr>
            <a:r>
              <a:rPr sz="1425" b="1" i="0">
                <a:solidFill>
                  <a:srgbClr val="087E8B"/>
                </a:solidFill>
                <a:latin typeface="Helvetica Neue"/>
                <a:ea typeface="Helvetica Neue"/>
                <a:cs typeface="Helvetica Neue"/>
              </a:rPr>
              <a:t>Design principle: AI reduces intake and repetition; it does not replace secretary accountability.</a:t>
            </a:r>
          </a:p>
        </p:txBody>
      </p:sp>
    </p:spTree>
    <p:extLst>
      <p:ext uri="{BB962C8B-B14F-4D97-AF65-F5344CB8AC3E}">
        <p14:creationId xmlns:p14="http://schemas.microsoft.com/office/powerpoint/2010/main" val="17043212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FB58E74-D8AA-4904-9813-4C5FF9CDBB6A}"/>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3680A34C-C375-42D0-9EC5-D8CE0F7F577F}"/>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How the system is hosted and protected</a:t>
            </a:r>
          </a:p>
        </p:txBody>
      </p:sp>
      <p:sp>
        <p:nvSpPr>
          <p:cNvPr id="3" name="">
            <a:extLst xmlns:a="http://schemas.openxmlformats.org/drawingml/2006/main">
              <a:ext uri="{FF2B5EF4-FFF2-40B4-BE49-F238E27FC236}">
                <a16:creationId xmlns:a16="http://schemas.microsoft.com/office/drawing/2014/main" id="{6946D636-F5B3-4AEC-AD00-EDF3136B0F72}"/>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016A21A5-EE69-4870-94A0-7A0D3DA5C729}"/>
              </a:ext>
            </a:extLst>
          </p:cNvPr>
          <p:cNvSpPr>
            <a:spLocks xmlns:a="http://schemas.openxmlformats.org/drawingml/2006/main" noGrp="1"/>
          </p:cNvSpPr>
          <p:nvPr/>
        </p:nvSpPr>
        <p:spPr>
          <a:xfrm xmlns:a="http://schemas.openxmlformats.org/drawingml/2006/main">
            <a:off x="714375" y="1428750"/>
            <a:ext cx="10715625" cy="59055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Company Windows Server</a:t>
            </a:r>
          </a:p>
        </p:txBody>
      </p:sp>
      <p:sp>
        <p:nvSpPr>
          <p:cNvPr id="5" name="">
            <a:extLst xmlns:a="http://schemas.openxmlformats.org/drawingml/2006/main">
              <a:ext uri="{FF2B5EF4-FFF2-40B4-BE49-F238E27FC236}">
                <a16:creationId xmlns:a16="http://schemas.microsoft.com/office/drawing/2014/main" id="{6B85AEFB-4381-4669-B00F-F3EB507EE50A}"/>
              </a:ext>
            </a:extLst>
          </p:cNvPr>
          <p:cNvSpPr>
            <a:spLocks xmlns:a="http://schemas.openxmlformats.org/drawingml/2006/main" noGrp="1"/>
          </p:cNvSpPr>
          <p:nvPr/>
        </p:nvSpPr>
        <p:spPr>
          <a:xfrm xmlns:a="http://schemas.openxmlformats.org/drawingml/2006/main">
            <a:off x="1381125" y="2476500"/>
            <a:ext cx="9382125" cy="590550"/>
          </a:xfrm>
          <a:prstGeom xmlns:a="http://schemas.openxmlformats.org/drawingml/2006/main" prst="rect">
            <a:avLst/>
          </a:prstGeom>
          <a:solidFill xmlns:a="http://schemas.openxmlformats.org/drawingml/2006/main">
            <a:srgbClr val="1D6FA5"/>
          </a:solidFill>
          <a:ln xmlns:a="http://schemas.openxmlformats.org/drawingml/2006/main" w="9525">
            <a:solidFill>
              <a:srgbClr val="1D6FA5"/>
            </a:solidFill>
          </a:ln>
        </p:spPr>
        <p:txBody>
          <a:bodyPr xmlns:a="http://schemas.openxmlformats.org/drawingml/2006/main">
            <a:normAutofit fontScale="94927"/>
          </a:bodyPr>
          <a:lstStyle xmlns:a="http://schemas.openxmlformats.org/drawingml/2006/main"/>
          <a:p xmlns:a="http://schemas.openxmlformats.org/drawingml/2006/main">
            <a:pP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Protected application environment</a:t>
            </a:r>
          </a:p>
          <a:p xmlns:a="http://schemas.openxmlformats.org/drawingml/2006/main">
            <a:pPr>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Runs the MySect services safely and consistently</a:t>
            </a:r>
          </a:p>
        </p:txBody>
      </p:sp>
      <p:sp>
        <p:nvSpPr>
          <p:cNvPr id="6" name="">
            <a:extLst xmlns:a="http://schemas.openxmlformats.org/drawingml/2006/main">
              <a:ext uri="{FF2B5EF4-FFF2-40B4-BE49-F238E27FC236}">
                <a16:creationId xmlns:a16="http://schemas.microsoft.com/office/drawing/2014/main" id="{C9E31DC0-397C-4090-83F9-AEC5A922589D}"/>
              </a:ext>
            </a:extLst>
          </p:cNvPr>
          <p:cNvSpPr>
            <a:spLocks xmlns:a="http://schemas.openxmlformats.org/drawingml/2006/main" noGrp="1"/>
          </p:cNvSpPr>
          <p:nvPr/>
        </p:nvSpPr>
        <p:spPr>
          <a:xfrm xmlns:a="http://schemas.openxmlformats.org/drawingml/2006/main">
            <a:off x="714375"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1" i="0">
                <a:solidFill>
                  <a:srgbClr val="123B6D"/>
                </a:solidFill>
                <a:latin typeface="Helvetica Neue"/>
                <a:ea typeface="Helvetica Neue"/>
                <a:cs typeface="Helvetica Neue"/>
              </a:defRPr>
            </a:pPr>
            <a:r>
              <a:rPr sz="1275" b="1" i="0">
                <a:solidFill>
                  <a:srgbClr val="123B6D"/>
                </a:solidFill>
                <a:latin typeface="Helvetica Neue"/>
                <a:ea typeface="Helvetica Neue"/>
                <a:cs typeface="Helvetica Neue"/>
              </a:rPr>
              <a:t>Main service</a:t>
            </a:r>
          </a:p>
          <a:p xmlns:a="http://schemas.openxmlformats.org/drawingml/2006/main">
            <a:pPr>
              <a:defRPr sz="1275" b="1" i="0">
                <a:solidFill>
                  <a:srgbClr val="123B6D"/>
                </a:solidFill>
                <a:latin typeface="Helvetica Neue"/>
                <a:ea typeface="Helvetica Neue"/>
                <a:cs typeface="Helvetica Neue"/>
              </a:defRPr>
            </a:pPr>
            <a:r>
              <a:rPr sz="1275" b="1" i="0">
                <a:solidFill>
                  <a:srgbClr val="123B6D"/>
                </a:solidFill>
                <a:latin typeface="Helvetica Neue"/>
                <a:ea typeface="Helvetica Neue"/>
                <a:cs typeface="Helvetica Neue"/>
              </a:rPr>
              <a:t>accounts, companies and tasks</a:t>
            </a:r>
          </a:p>
        </p:txBody>
      </p:sp>
      <p:sp>
        <p:nvSpPr>
          <p:cNvPr id="7" name="">
            <a:extLst xmlns:a="http://schemas.openxmlformats.org/drawingml/2006/main">
              <a:ext uri="{FF2B5EF4-FFF2-40B4-BE49-F238E27FC236}">
                <a16:creationId xmlns:a16="http://schemas.microsoft.com/office/drawing/2014/main" id="{F2FC6399-429C-4C91-A1D4-C0E73D7AC89C}"/>
              </a:ext>
            </a:extLst>
          </p:cNvPr>
          <p:cNvSpPr>
            <a:spLocks xmlns:a="http://schemas.openxmlformats.org/drawingml/2006/main" noGrp="1"/>
          </p:cNvSpPr>
          <p:nvPr/>
        </p:nvSpPr>
        <p:spPr>
          <a:xfrm xmlns:a="http://schemas.openxmlformats.org/drawingml/2006/main">
            <a:off x="3429000"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Background work</a:t>
            </a:r>
          </a:p>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notifications and document reading</a:t>
            </a:r>
          </a:p>
        </p:txBody>
      </p:sp>
      <p:sp>
        <p:nvSpPr>
          <p:cNvPr id="8" name="">
            <a:extLst xmlns:a="http://schemas.openxmlformats.org/drawingml/2006/main">
              <a:ext uri="{FF2B5EF4-FFF2-40B4-BE49-F238E27FC236}">
                <a16:creationId xmlns:a16="http://schemas.microsoft.com/office/drawing/2014/main" id="{10F95DB8-66B1-4BDA-952E-141EBB91E238}"/>
              </a:ext>
            </a:extLst>
          </p:cNvPr>
          <p:cNvSpPr>
            <a:spLocks xmlns:a="http://schemas.openxmlformats.org/drawingml/2006/main" noGrp="1"/>
          </p:cNvSpPr>
          <p:nvPr/>
        </p:nvSpPr>
        <p:spPr>
          <a:xfrm xmlns:a="http://schemas.openxmlformats.org/drawingml/2006/main">
            <a:off x="6143625"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Company records</a:t>
            </a:r>
          </a:p>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records plus regular backups</a:t>
            </a:r>
          </a:p>
        </p:txBody>
      </p:sp>
      <p:sp>
        <p:nvSpPr>
          <p:cNvPr id="9" name="">
            <a:extLst xmlns:a="http://schemas.openxmlformats.org/drawingml/2006/main">
              <a:ext uri="{FF2B5EF4-FFF2-40B4-BE49-F238E27FC236}">
                <a16:creationId xmlns:a16="http://schemas.microsoft.com/office/drawing/2014/main" id="{A9A25385-7E36-4035-BE84-ABDD38D3318E}"/>
              </a:ext>
            </a:extLst>
          </p:cNvPr>
          <p:cNvSpPr>
            <a:spLocks xmlns:a="http://schemas.openxmlformats.org/drawingml/2006/main" noGrp="1"/>
          </p:cNvSpPr>
          <p:nvPr/>
        </p:nvSpPr>
        <p:spPr>
          <a:xfrm xmlns:a="http://schemas.openxmlformats.org/drawingml/2006/main">
            <a:off x="8858250" y="3619500"/>
            <a:ext cx="2333625" cy="8763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Secure connection</a:t>
            </a:r>
          </a:p>
          <a:p xmlns:a="http://schemas.openxmlformats.org/drawingml/2006/main">
            <a:pPr>
              <a:defRPr sz="1275" b="0" i="0">
                <a:solidFill>
                  <a:srgbClr val="123B6D"/>
                </a:solidFill>
                <a:latin typeface="Helvetica Neue"/>
                <a:ea typeface="Helvetica Neue"/>
                <a:cs typeface="Helvetica Neue"/>
              </a:defRPr>
            </a:pPr>
            <a:r>
              <a:rPr sz="1275" b="0" i="0">
                <a:solidFill>
                  <a:srgbClr val="123B6D"/>
                </a:solidFill>
                <a:latin typeface="Helvetica Neue"/>
                <a:ea typeface="Helvetica Neue"/>
                <a:cs typeface="Helvetica Neue"/>
              </a:rPr>
              <a:t>website protection and traffic control</a:t>
            </a:r>
          </a:p>
        </p:txBody>
      </p:sp>
      <p:sp>
        <p:nvSpPr>
          <p:cNvPr id="10" name="">
            <a:extLst xmlns:a="http://schemas.openxmlformats.org/drawingml/2006/main">
              <a:ext uri="{FF2B5EF4-FFF2-40B4-BE49-F238E27FC236}">
                <a16:creationId xmlns:a16="http://schemas.microsoft.com/office/drawing/2014/main" id="{BCE19B6F-5126-499B-BDDF-C40EEB3AA3A9}"/>
              </a:ext>
            </a:extLst>
          </p:cNvPr>
          <p:cNvSpPr>
            <a:spLocks xmlns:a="http://schemas.openxmlformats.org/drawingml/2006/main" noGrp="1"/>
          </p:cNvSpPr>
          <p:nvPr/>
        </p:nvSpPr>
        <p:spPr>
          <a:xfrm xmlns:a="http://schemas.openxmlformats.org/drawingml/2006/main">
            <a:off x="1714500" y="5095875"/>
            <a:ext cx="8763000" cy="60960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087E8B"/>
                </a:solidFill>
                <a:latin typeface="Helvetica Neue"/>
                <a:ea typeface="Helvetica Neue"/>
                <a:cs typeface="Helvetica Neue"/>
              </a:defRPr>
            </a:pPr>
            <a:r>
              <a:rPr sz="1425" b="1" i="0">
                <a:solidFill>
                  <a:srgbClr val="087E8B"/>
                </a:solidFill>
                <a:latin typeface="Helvetica Neue"/>
                <a:ea typeface="Helvetica Neue"/>
                <a:cs typeface="Helvetica Neue"/>
              </a:rPr>
              <a:t>TM Cloud secure file storage  |  protected originals  |  controlled downloads  |  backup copies</a:t>
            </a:r>
          </a:p>
        </p:txBody>
      </p:sp>
    </p:spTree>
    <p:extLst>
      <p:ext uri="{BB962C8B-B14F-4D97-AF65-F5344CB8AC3E}">
        <p14:creationId xmlns:p14="http://schemas.microsoft.com/office/powerpoint/2010/main" val="19617865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C835B4-E27D-4629-AE17-AD940AACF664}"/>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3C239C1B-50D4-4CDB-9C93-F911186ED6DD}"/>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AI provider decision: start cheap, stay replaceable</a:t>
            </a:r>
          </a:p>
        </p:txBody>
      </p:sp>
      <p:sp>
        <p:nvSpPr>
          <p:cNvPr id="3" name="">
            <a:extLst xmlns:a="http://schemas.openxmlformats.org/drawingml/2006/main">
              <a:ext uri="{FF2B5EF4-FFF2-40B4-BE49-F238E27FC236}">
                <a16:creationId xmlns:a16="http://schemas.microsoft.com/office/drawing/2014/main" id="{EF255964-CBA4-4087-A26A-17C48E54E825}"/>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10AE4FD1-FA4A-4412-8235-F0DC777BAE0B}"/>
              </a:ext>
            </a:extLst>
          </p:cNvPr>
          <p:cNvSpPr>
            <a:spLocks xmlns:a="http://schemas.openxmlformats.org/drawingml/2006/main" noGrp="1"/>
          </p:cNvSpPr>
          <p:nvPr/>
        </p:nvSpPr>
        <p:spPr>
          <a:xfrm xmlns:a="http://schemas.openxmlformats.org/drawingml/2006/main">
            <a:off x="590550" y="136207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607080"/>
                </a:solidFill>
                <a:latin typeface="Helvetica Neue"/>
                <a:ea typeface="Helvetica Neue"/>
                <a:cs typeface="Helvetica Neue"/>
              </a:defRPr>
            </a:pPr>
            <a:r>
              <a:rPr sz="1125" b="0" i="0">
                <a:solidFill>
                  <a:srgbClr val="607080"/>
                </a:solidFill>
                <a:latin typeface="Helvetica Neue"/>
                <a:ea typeface="Helvetica Neue"/>
                <a:cs typeface="Helvetica Neue"/>
              </a:rPr>
              <a:t>Illustrative AI service price comparison (USD, researched 28 Sep 2026)</a:t>
            </a:r>
          </a:p>
        </p:txBody>
      </p:sp>
      <p:sp>
        <p:nvSpPr>
          <p:cNvPr id="5" name="">
            <a:extLst xmlns:a="http://schemas.openxmlformats.org/drawingml/2006/main">
              <a:ext uri="{FF2B5EF4-FFF2-40B4-BE49-F238E27FC236}">
                <a16:creationId xmlns:a16="http://schemas.microsoft.com/office/drawing/2014/main" id="{9BDCDD48-03CE-49BF-9933-A8972D72ACF5}"/>
              </a:ext>
            </a:extLst>
          </p:cNvPr>
          <p:cNvSpPr>
            <a:spLocks xmlns:a="http://schemas.openxmlformats.org/drawingml/2006/main" noGrp="1"/>
          </p:cNvSpPr>
          <p:nvPr/>
        </p:nvSpPr>
        <p:spPr>
          <a:xfrm xmlns:a="http://schemas.openxmlformats.org/drawingml/2006/main">
            <a:off x="590550" y="1857375"/>
            <a:ext cx="11049000" cy="38100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275" b="1" i="0">
                <a:solidFill>
                  <a:srgbClr val="FFFFFF"/>
                </a:solidFill>
                <a:latin typeface="Helvetica Neue"/>
                <a:ea typeface="Helvetica Neue"/>
                <a:cs typeface="Helvetica Neue"/>
              </a:defRPr>
            </a:pPr>
            <a:r>
              <a:rPr sz="1275" b="1" i="0">
                <a:solidFill>
                  <a:srgbClr val="FFFFFF"/>
                </a:solidFill>
                <a:latin typeface="Helvetica Neue"/>
                <a:ea typeface="Helvetica Neue"/>
                <a:cs typeface="Helvetica Neue"/>
              </a:rPr>
              <a:t>Provider / role                                      Customer message       AI reply</a:t>
            </a:r>
          </a:p>
        </p:txBody>
      </p:sp>
      <p:sp>
        <p:nvSpPr>
          <p:cNvPr id="6" name="">
            <a:extLst xmlns:a="http://schemas.openxmlformats.org/drawingml/2006/main">
              <a:ext uri="{FF2B5EF4-FFF2-40B4-BE49-F238E27FC236}">
                <a16:creationId xmlns:a16="http://schemas.microsoft.com/office/drawing/2014/main" id="{554E2A62-0A44-428A-B008-FCF2DF0911FA}"/>
              </a:ext>
            </a:extLst>
          </p:cNvPr>
          <p:cNvSpPr>
            <a:spLocks xmlns:a="http://schemas.openxmlformats.org/drawingml/2006/main" noGrp="1"/>
          </p:cNvSpPr>
          <p:nvPr/>
        </p:nvSpPr>
        <p:spPr>
          <a:xfrm xmlns:a="http://schemas.openxmlformats.org/drawingml/2006/main">
            <a:off x="590550" y="2286000"/>
            <a:ext cx="11049000" cy="438150"/>
          </a:xfrm>
          <a:prstGeom xmlns:a="http://schemas.openxmlformats.org/drawingml/2006/main" prst="rect">
            <a:avLst/>
          </a:prstGeom>
          <a:solidFill xmlns:a="http://schemas.openxmlformats.org/drawingml/2006/main">
            <a:srgbClr val="E7F5F4"/>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1" i="0">
                <a:solidFill>
                  <a:srgbClr val="123B6D"/>
                </a:solidFill>
                <a:latin typeface="Helvetica Neue"/>
                <a:ea typeface="Helvetica Neue"/>
                <a:cs typeface="Helvetica Neue"/>
              </a:defRPr>
            </a:pPr>
            <a:r>
              <a:rPr sz="1200" b="1" i="0">
                <a:solidFill>
                  <a:srgbClr val="123B6D"/>
                </a:solidFill>
                <a:latin typeface="Helvetica Neue"/>
                <a:ea typeface="Helvetica Neue"/>
                <a:cs typeface="Helvetica Neue"/>
              </a:rPr>
              <a:t>Gemini 2.5 Flash-Lite  |  Recommended intake                                      $0.10       $0.40</a:t>
            </a:r>
          </a:p>
        </p:txBody>
      </p:sp>
      <p:sp>
        <p:nvSpPr>
          <p:cNvPr id="7" name="">
            <a:extLst xmlns:a="http://schemas.openxmlformats.org/drawingml/2006/main">
              <a:ext uri="{FF2B5EF4-FFF2-40B4-BE49-F238E27FC236}">
                <a16:creationId xmlns:a16="http://schemas.microsoft.com/office/drawing/2014/main" id="{93E3F2D9-987F-4B7E-BD35-DDEF78738C86}"/>
              </a:ext>
            </a:extLst>
          </p:cNvPr>
          <p:cNvSpPr>
            <a:spLocks xmlns:a="http://schemas.openxmlformats.org/drawingml/2006/main" noGrp="1"/>
          </p:cNvSpPr>
          <p:nvPr/>
        </p:nvSpPr>
        <p:spPr>
          <a:xfrm xmlns:a="http://schemas.openxmlformats.org/drawingml/2006/main">
            <a:off x="590550" y="2800350"/>
            <a:ext cx="11049000" cy="4381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OpenAI GPT-6 Luna  |  Strong fallback                                      $0.10       $0.50</a:t>
            </a:r>
          </a:p>
        </p:txBody>
      </p:sp>
      <p:sp>
        <p:nvSpPr>
          <p:cNvPr id="8" name="">
            <a:extLst xmlns:a="http://schemas.openxmlformats.org/drawingml/2006/main">
              <a:ext uri="{FF2B5EF4-FFF2-40B4-BE49-F238E27FC236}">
                <a16:creationId xmlns:a16="http://schemas.microsoft.com/office/drawing/2014/main" id="{6F81E0B2-C128-48C3-87FF-6DACBC3BDDD7}"/>
              </a:ext>
            </a:extLst>
          </p:cNvPr>
          <p:cNvSpPr>
            <a:spLocks xmlns:a="http://schemas.openxmlformats.org/drawingml/2006/main" noGrp="1"/>
          </p:cNvSpPr>
          <p:nvPr/>
        </p:nvSpPr>
        <p:spPr>
          <a:xfrm xmlns:a="http://schemas.openxmlformats.org/drawingml/2006/main">
            <a:off x="590550" y="3314700"/>
            <a:ext cx="110490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Mistral Small 4  |  Good alternative                                      $0.15       $0.60</a:t>
            </a:r>
          </a:p>
        </p:txBody>
      </p:sp>
      <p:sp>
        <p:nvSpPr>
          <p:cNvPr id="9" name="">
            <a:extLst xmlns:a="http://schemas.openxmlformats.org/drawingml/2006/main">
              <a:ext uri="{FF2B5EF4-FFF2-40B4-BE49-F238E27FC236}">
                <a16:creationId xmlns:a16="http://schemas.microsoft.com/office/drawing/2014/main" id="{415B13AE-8E79-4D7F-A1EF-AFBF7C9C4167}"/>
              </a:ext>
            </a:extLst>
          </p:cNvPr>
          <p:cNvSpPr>
            <a:spLocks xmlns:a="http://schemas.openxmlformats.org/drawingml/2006/main" noGrp="1"/>
          </p:cNvSpPr>
          <p:nvPr/>
        </p:nvSpPr>
        <p:spPr>
          <a:xfrm xmlns:a="http://schemas.openxmlformats.org/drawingml/2006/main">
            <a:off x="590550" y="3829050"/>
            <a:ext cx="11049000" cy="4381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00" b="0" i="0">
                <a:solidFill>
                  <a:srgbClr val="243447"/>
                </a:solidFill>
                <a:latin typeface="Helvetica Neue"/>
                <a:ea typeface="Helvetica Neue"/>
                <a:cs typeface="Helvetica Neue"/>
              </a:defRPr>
            </a:pPr>
            <a:r>
              <a:rPr sz="1200" b="0" i="0">
                <a:solidFill>
                  <a:srgbClr val="243447"/>
                </a:solidFill>
                <a:latin typeface="Helvetica Neue"/>
                <a:ea typeface="Helvetica Neue"/>
                <a:cs typeface="Helvetica Neue"/>
              </a:rPr>
              <a:t>DeepSeek Flash  |  Cost option; review data terms                                      $0.15–0.30       $0.60–1.20</a:t>
            </a:r>
          </a:p>
        </p:txBody>
      </p:sp>
      <p:sp>
        <p:nvSpPr>
          <p:cNvPr id="10" name="">
            <a:extLst xmlns:a="http://schemas.openxmlformats.org/drawingml/2006/main">
              <a:ext uri="{FF2B5EF4-FFF2-40B4-BE49-F238E27FC236}">
                <a16:creationId xmlns:a16="http://schemas.microsoft.com/office/drawing/2014/main" id="{F3016F4D-8FF0-4D29-B088-C50F4B7DFFCE}"/>
              </a:ext>
            </a:extLst>
          </p:cNvPr>
          <p:cNvSpPr>
            <a:spLocks xmlns:a="http://schemas.openxmlformats.org/drawingml/2006/main" noGrp="1"/>
          </p:cNvSpPr>
          <p:nvPr/>
        </p:nvSpPr>
        <p:spPr>
          <a:xfrm xmlns:a="http://schemas.openxmlformats.org/drawingml/2006/main">
            <a:off x="714375" y="4762500"/>
            <a:ext cx="10715625" cy="809625"/>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Example: 10,000 AI conversations/month ≈ $7–$11/month for the listed low-cost models before document reading, storage and engineering.</a:t>
            </a:r>
          </a:p>
        </p:txBody>
      </p:sp>
    </p:spTree>
    <p:extLst>
      <p:ext uri="{BB962C8B-B14F-4D97-AF65-F5344CB8AC3E}">
        <p14:creationId xmlns:p14="http://schemas.microsoft.com/office/powerpoint/2010/main" val="19445749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5FB3F2F-ED12-4AA5-8538-663A737032B0}"/>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A4456DA2-0D49-4A1A-AAED-95CF8901200E}"/>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Other important service costs</a:t>
            </a:r>
          </a:p>
        </p:txBody>
      </p:sp>
      <p:sp>
        <p:nvSpPr>
          <p:cNvPr id="3" name="">
            <a:extLst xmlns:a="http://schemas.openxmlformats.org/drawingml/2006/main">
              <a:ext uri="{FF2B5EF4-FFF2-40B4-BE49-F238E27FC236}">
                <a16:creationId xmlns:a16="http://schemas.microsoft.com/office/drawing/2014/main" id="{E5D8854A-1C3A-4548-ABB8-56B927FA616B}"/>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60BE0236-B836-4B03-9BD1-AD6AB65279ED}"/>
              </a:ext>
            </a:extLst>
          </p:cNvPr>
          <p:cNvSpPr>
            <a:spLocks xmlns:a="http://schemas.openxmlformats.org/drawingml/2006/main" noGrp="1"/>
          </p:cNvSpPr>
          <p:nvPr/>
        </p:nvSpPr>
        <p:spPr>
          <a:xfrm xmlns:a="http://schemas.openxmlformats.org/drawingml/2006/main">
            <a:off x="571500" y="13335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123B6D"/>
                </a:solidFill>
                <a:latin typeface="Helvetica Neue"/>
                <a:ea typeface="Helvetica Neue"/>
                <a:cs typeface="Helvetica Neue"/>
              </a:defRPr>
            </a:pPr>
            <a:r>
              <a:rPr sz="1500" b="1" i="0">
                <a:solidFill>
                  <a:srgbClr val="123B6D"/>
                </a:solidFill>
                <a:latin typeface="Helvetica Neue"/>
                <a:ea typeface="Helvetica Neue"/>
                <a:cs typeface="Helvetica Neue"/>
              </a:rPr>
              <a:t>e-KYC identity check options</a:t>
            </a:r>
          </a:p>
        </p:txBody>
      </p:sp>
      <p:sp>
        <p:nvSpPr>
          <p:cNvPr id="5" name="">
            <a:extLst xmlns:a="http://schemas.openxmlformats.org/drawingml/2006/main">
              <a:ext uri="{FF2B5EF4-FFF2-40B4-BE49-F238E27FC236}">
                <a16:creationId xmlns:a16="http://schemas.microsoft.com/office/drawing/2014/main" id="{69306DB5-69DB-4859-941F-C21AA60A942F}"/>
              </a:ext>
            </a:extLst>
          </p:cNvPr>
          <p:cNvSpPr>
            <a:spLocks xmlns:a="http://schemas.openxmlformats.org/drawingml/2006/main" noGrp="1"/>
          </p:cNvSpPr>
          <p:nvPr/>
        </p:nvSpPr>
        <p:spPr>
          <a:xfrm xmlns:a="http://schemas.openxmlformats.org/drawingml/2006/main">
            <a:off x="571500" y="1762125"/>
            <a:ext cx="5334000" cy="3619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Epsilon ID V3   RM2.99 / full check</a:t>
            </a:r>
          </a:p>
        </p:txBody>
      </p:sp>
      <p:sp>
        <p:nvSpPr>
          <p:cNvPr id="6" name="">
            <a:extLst xmlns:a="http://schemas.openxmlformats.org/drawingml/2006/main">
              <a:ext uri="{FF2B5EF4-FFF2-40B4-BE49-F238E27FC236}">
                <a16:creationId xmlns:a16="http://schemas.microsoft.com/office/drawing/2014/main" id="{523C2470-BDFA-414A-AA59-8922C867C8F2}"/>
              </a:ext>
            </a:extLst>
          </p:cNvPr>
          <p:cNvSpPr>
            <a:spLocks xmlns:a="http://schemas.openxmlformats.org/drawingml/2006/main" noGrp="1"/>
          </p:cNvSpPr>
          <p:nvPr/>
        </p:nvSpPr>
        <p:spPr>
          <a:xfrm xmlns:a="http://schemas.openxmlformats.org/drawingml/2006/main">
            <a:off x="571500" y="2209800"/>
            <a:ext cx="5334000" cy="3619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TrueIdentity   RM8,000 setup + RM3.50 / check + RM4,000/year</a:t>
            </a:r>
          </a:p>
        </p:txBody>
      </p:sp>
      <p:sp>
        <p:nvSpPr>
          <p:cNvPr id="7" name="">
            <a:extLst xmlns:a="http://schemas.openxmlformats.org/drawingml/2006/main">
              <a:ext uri="{FF2B5EF4-FFF2-40B4-BE49-F238E27FC236}">
                <a16:creationId xmlns:a16="http://schemas.microsoft.com/office/drawing/2014/main" id="{DD2BDC68-23E9-4ADE-8F15-A216AA54ED23}"/>
              </a:ext>
            </a:extLst>
          </p:cNvPr>
          <p:cNvSpPr>
            <a:spLocks xmlns:a="http://schemas.openxmlformats.org/drawingml/2006/main" noGrp="1"/>
          </p:cNvSpPr>
          <p:nvPr/>
        </p:nvSpPr>
        <p:spPr>
          <a:xfrm xmlns:a="http://schemas.openxmlformats.org/drawingml/2006/main">
            <a:off x="571500" y="2657475"/>
            <a:ext cx="5334000" cy="3619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MasChain   RM3.50 down to RM1.50 / check</a:t>
            </a:r>
          </a:p>
        </p:txBody>
      </p:sp>
      <p:sp>
        <p:nvSpPr>
          <p:cNvPr id="8" name="">
            <a:extLst xmlns:a="http://schemas.openxmlformats.org/drawingml/2006/main">
              <a:ext uri="{FF2B5EF4-FFF2-40B4-BE49-F238E27FC236}">
                <a16:creationId xmlns:a16="http://schemas.microsoft.com/office/drawing/2014/main" id="{C5510E9D-E723-4845-BBC2-57742134EBA6}"/>
              </a:ext>
            </a:extLst>
          </p:cNvPr>
          <p:cNvSpPr>
            <a:spLocks xmlns:a="http://schemas.openxmlformats.org/drawingml/2006/main" noGrp="1"/>
          </p:cNvSpPr>
          <p:nvPr/>
        </p:nvSpPr>
        <p:spPr>
          <a:xfrm xmlns:a="http://schemas.openxmlformats.org/drawingml/2006/main">
            <a:off x="571500" y="3105150"/>
            <a:ext cx="5334000" cy="3619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Tekkis T-Verify   RM1.50 / API call shown publicly</a:t>
            </a:r>
          </a:p>
        </p:txBody>
      </p:sp>
      <p:sp>
        <p:nvSpPr>
          <p:cNvPr id="9" name="">
            <a:extLst xmlns:a="http://schemas.openxmlformats.org/drawingml/2006/main">
              <a:ext uri="{FF2B5EF4-FFF2-40B4-BE49-F238E27FC236}">
                <a16:creationId xmlns:a16="http://schemas.microsoft.com/office/drawing/2014/main" id="{09BAE3CF-B5B9-43FA-9539-92B0C5576139}"/>
              </a:ext>
            </a:extLst>
          </p:cNvPr>
          <p:cNvSpPr>
            <a:spLocks xmlns:a="http://schemas.openxmlformats.org/drawingml/2006/main" noGrp="1"/>
          </p:cNvSpPr>
          <p:nvPr/>
        </p:nvSpPr>
        <p:spPr>
          <a:xfrm xmlns:a="http://schemas.openxmlformats.org/drawingml/2006/main">
            <a:off x="6286500" y="13335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123B6D"/>
                </a:solidFill>
                <a:latin typeface="Helvetica Neue"/>
                <a:ea typeface="Helvetica Neue"/>
                <a:cs typeface="Helvetica Neue"/>
              </a:defRPr>
            </a:pPr>
            <a:r>
              <a:rPr sz="1500" b="1" i="0">
                <a:solidFill>
                  <a:srgbClr val="123B6D"/>
                </a:solidFill>
                <a:latin typeface="Helvetica Neue"/>
                <a:ea typeface="Helvetica Neue"/>
                <a:cs typeface="Helvetica Neue"/>
              </a:rPr>
              <a:t>TM Cloud storage references</a:t>
            </a:r>
          </a:p>
        </p:txBody>
      </p:sp>
      <p:sp>
        <p:nvSpPr>
          <p:cNvPr id="10" name="">
            <a:extLst xmlns:a="http://schemas.openxmlformats.org/drawingml/2006/main">
              <a:ext uri="{FF2B5EF4-FFF2-40B4-BE49-F238E27FC236}">
                <a16:creationId xmlns:a16="http://schemas.microsoft.com/office/drawing/2014/main" id="{FCD055B0-F5E4-405F-8AAA-C92366EFD533}"/>
              </a:ext>
            </a:extLst>
          </p:cNvPr>
          <p:cNvSpPr>
            <a:spLocks xmlns:a="http://schemas.openxmlformats.org/drawingml/2006/main" noGrp="1"/>
          </p:cNvSpPr>
          <p:nvPr/>
        </p:nvSpPr>
        <p:spPr>
          <a:xfrm xmlns:a="http://schemas.openxmlformats.org/drawingml/2006/main">
            <a:off x="6286500" y="1762125"/>
            <a:ext cx="5334000" cy="11239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98263"/>
          </a:bodyPr>
          <a:lstStyle xmlns:a="http://schemas.openxmlformats.org/drawingml/2006/main"/>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Exact production price: not publicly listed; request a quotation.</a:t>
            </a:r>
          </a:p>
          <a:p xmlns:a="http://schemas.openxmlformats.org/drawingml/2006/main">
            <a:r>
              <a:t/>
            </a:r>
          </a:p>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Older Cloud Alpha reference: RM0.49/GB/month mid-performance or RM2.20/GB/month high-performance.</a:t>
            </a:r>
          </a:p>
          <a:p xmlns:a="http://schemas.openxmlformats.org/drawingml/2006/main">
            <a:r>
              <a:t/>
            </a:r>
          </a:p>
          <a:p xmlns:a="http://schemas.openxmlformats.org/drawingml/2006/main">
            <a:pPr>
              <a:defRPr sz="1125" b="0" i="0">
                <a:solidFill>
                  <a:srgbClr val="243447"/>
                </a:solidFill>
                <a:latin typeface="Helvetica Neue"/>
                <a:ea typeface="Helvetica Neue"/>
                <a:cs typeface="Helvetica Neue"/>
              </a:defRPr>
            </a:pPr>
            <a:r>
              <a:rPr sz="1125" b="0" i="0">
                <a:solidFill>
                  <a:srgbClr val="243447"/>
                </a:solidFill>
                <a:latin typeface="Helvetica Neue"/>
                <a:ea typeface="Helvetica Neue"/>
                <a:cs typeface="Helvetica Neue"/>
              </a:rPr>
              <a:t>Separate Unifi storage plans are not automatically suitable for application storage.</a:t>
            </a:r>
          </a:p>
        </p:txBody>
      </p:sp>
      <p:sp>
        <p:nvSpPr>
          <p:cNvPr id="11" name="">
            <a:extLst xmlns:a="http://schemas.openxmlformats.org/drawingml/2006/main">
              <a:ext uri="{FF2B5EF4-FFF2-40B4-BE49-F238E27FC236}">
                <a16:creationId xmlns:a16="http://schemas.microsoft.com/office/drawing/2014/main" id="{D2D4FECD-D29E-44FD-8ACE-7076FDDD7451}"/>
              </a:ext>
            </a:extLst>
          </p:cNvPr>
          <p:cNvSpPr>
            <a:spLocks xmlns:a="http://schemas.openxmlformats.org/drawingml/2006/main" noGrp="1"/>
          </p:cNvSpPr>
          <p:nvPr/>
        </p:nvSpPr>
        <p:spPr>
          <a:xfrm xmlns:a="http://schemas.openxmlformats.org/drawingml/2006/main">
            <a:off x="6286500" y="3143250"/>
            <a:ext cx="5334000" cy="990600"/>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275" b="1" i="0">
                <a:solidFill>
                  <a:srgbClr val="123B6D"/>
                </a:solidFill>
                <a:latin typeface="Helvetica Neue"/>
                <a:ea typeface="Helvetica Neue"/>
                <a:cs typeface="Helvetica Neue"/>
              </a:defRPr>
            </a:pPr>
            <a:r>
              <a:rPr sz="1275" b="1" i="0">
                <a:solidFill>
                  <a:srgbClr val="123B6D"/>
                </a:solidFill>
                <a:latin typeface="Helvetica Neue"/>
                <a:ea typeface="Helvetica Neue"/>
                <a:cs typeface="Helvetica Neue"/>
              </a:rPr>
              <a:t>For a 100–500GB MVP, the older reference implies approximately RM49–RM1,100/month for raw storage only, before backup, server, support, and other services.</a:t>
            </a:r>
          </a:p>
        </p:txBody>
      </p:sp>
      <p:sp>
        <p:nvSpPr>
          <p:cNvPr id="12" name="">
            <a:extLst xmlns:a="http://schemas.openxmlformats.org/drawingml/2006/main">
              <a:ext uri="{FF2B5EF4-FFF2-40B4-BE49-F238E27FC236}">
                <a16:creationId xmlns:a16="http://schemas.microsoft.com/office/drawing/2014/main" id="{99603C2B-5DA9-4438-BD45-0CB061CB666F}"/>
              </a:ext>
            </a:extLst>
          </p:cNvPr>
          <p:cNvSpPr>
            <a:spLocks xmlns:a="http://schemas.openxmlformats.org/drawingml/2006/main" noGrp="1"/>
          </p:cNvSpPr>
          <p:nvPr/>
        </p:nvSpPr>
        <p:spPr>
          <a:xfrm xmlns:a="http://schemas.openxmlformats.org/drawingml/2006/main">
            <a:off x="714375" y="4762500"/>
            <a:ext cx="10715625" cy="68580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087E8B"/>
                </a:solidFill>
                <a:latin typeface="Helvetica Neue"/>
                <a:ea typeface="Helvetica Neue"/>
                <a:cs typeface="Helvetica Neue"/>
              </a:defRPr>
            </a:pPr>
            <a:r>
              <a:rPr sz="1425" b="1" i="0">
                <a:solidFill>
                  <a:srgbClr val="087E8B"/>
                </a:solidFill>
                <a:latin typeface="Helvetica Neue"/>
                <a:ea typeface="Helvetica Neue"/>
                <a:cs typeface="Helvetica Neue"/>
              </a:rPr>
              <a:t>Recommendation: test e-KYC with 20–50 people, request the TM quote, and choose on privacy, Malaysia coverage, support and reliability—not price alone.</a:t>
            </a:r>
          </a:p>
        </p:txBody>
      </p:sp>
    </p:spTree>
    <p:extLst>
      <p:ext uri="{BB962C8B-B14F-4D97-AF65-F5344CB8AC3E}">
        <p14:creationId xmlns:p14="http://schemas.microsoft.com/office/powerpoint/2010/main" val="4330184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EEE78F-5995-40F6-8C0B-93FDBB90E108}"/>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2E27DBEF-EFF4-4128-B011-1C8F0B9537F5}"/>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Two billing relationships, kept operationally separate</a:t>
            </a:r>
          </a:p>
        </p:txBody>
      </p:sp>
      <p:sp>
        <p:nvSpPr>
          <p:cNvPr id="3" name="">
            <a:extLst xmlns:a="http://schemas.openxmlformats.org/drawingml/2006/main">
              <a:ext uri="{FF2B5EF4-FFF2-40B4-BE49-F238E27FC236}">
                <a16:creationId xmlns:a16="http://schemas.microsoft.com/office/drawing/2014/main" id="{F9E1DBAF-377A-4EBB-ACD1-D3B5210D83AA}"/>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2A7D0A24-489B-474B-B728-F307D417EB84}"/>
              </a:ext>
            </a:extLst>
          </p:cNvPr>
          <p:cNvSpPr>
            <a:spLocks xmlns:a="http://schemas.openxmlformats.org/drawingml/2006/main" noGrp="1"/>
          </p:cNvSpPr>
          <p:nvPr/>
        </p:nvSpPr>
        <p:spPr>
          <a:xfrm xmlns:a="http://schemas.openxmlformats.org/drawingml/2006/main">
            <a:off x="666750" y="1476375"/>
            <a:ext cx="4762500" cy="68580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MySect Admin</a:t>
            </a:r>
          </a:p>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 Secretary Firm</a:t>
            </a:r>
          </a:p>
        </p:txBody>
      </p:sp>
      <p:sp>
        <p:nvSpPr>
          <p:cNvPr id="5" name="">
            <a:extLst xmlns:a="http://schemas.openxmlformats.org/drawingml/2006/main">
              <a:ext uri="{FF2B5EF4-FFF2-40B4-BE49-F238E27FC236}">
                <a16:creationId xmlns:a16="http://schemas.microsoft.com/office/drawing/2014/main" id="{5F916382-E9FB-403D-9D14-2CBEB2A3A1A8}"/>
              </a:ext>
            </a:extLst>
          </p:cNvPr>
          <p:cNvSpPr>
            <a:spLocks xmlns:a="http://schemas.openxmlformats.org/drawingml/2006/main" noGrp="1"/>
          </p:cNvSpPr>
          <p:nvPr/>
        </p:nvSpPr>
        <p:spPr>
          <a:xfrm xmlns:a="http://schemas.openxmlformats.org/drawingml/2006/main">
            <a:off x="6762750" y="1476375"/>
            <a:ext cx="4762500" cy="68580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Secretary Firm</a:t>
            </a:r>
          </a:p>
          <a:p xmlns:a="http://schemas.openxmlformats.org/drawingml/2006/main">
            <a:pPr>
              <a:defRPr sz="1650" b="1" i="0">
                <a:solidFill>
                  <a:srgbClr val="FFFFFF"/>
                </a:solidFill>
                <a:latin typeface="Helvetica Neue"/>
                <a:ea typeface="Helvetica Neue"/>
                <a:cs typeface="Helvetica Neue"/>
              </a:defRPr>
            </a:pPr>
            <a:r>
              <a:rPr sz="1650" b="1" i="0">
                <a:solidFill>
                  <a:srgbClr val="FFFFFF"/>
                </a:solidFill>
                <a:latin typeface="Helvetica Neue"/>
                <a:ea typeface="Helvetica Neue"/>
                <a:cs typeface="Helvetica Neue"/>
              </a:rPr>
              <a:t>→ Customer Company</a:t>
            </a:r>
          </a:p>
        </p:txBody>
      </p:sp>
      <p:sp>
        <p:nvSpPr>
          <p:cNvPr id="6" name="">
            <a:extLst xmlns:a="http://schemas.openxmlformats.org/drawingml/2006/main">
              <a:ext uri="{FF2B5EF4-FFF2-40B4-BE49-F238E27FC236}">
                <a16:creationId xmlns:a16="http://schemas.microsoft.com/office/drawing/2014/main" id="{3D74C793-9BEA-4E64-8B50-974151E1DE13}"/>
              </a:ext>
            </a:extLst>
          </p:cNvPr>
          <p:cNvSpPr>
            <a:spLocks xmlns:a="http://schemas.openxmlformats.org/drawingml/2006/main" noGrp="1"/>
          </p:cNvSpPr>
          <p:nvPr/>
        </p:nvSpPr>
        <p:spPr>
          <a:xfrm xmlns:a="http://schemas.openxmlformats.org/drawingml/2006/main">
            <a:off x="666750" y="2571750"/>
            <a:ext cx="4762500" cy="180975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Platform subscription</a:t>
            </a:r>
          </a:p>
          <a:p xmlns:a="http://schemas.openxmlformats.org/drawingml/2006/main">
            <a:r>
              <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Starter / Growth / Professional</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Seats, companies, AI and storage limits</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MySect invoice, payment status and entitlements</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Grace period and suspension rules</a:t>
            </a:r>
          </a:p>
        </p:txBody>
      </p:sp>
      <p:sp>
        <p:nvSpPr>
          <p:cNvPr id="7" name="">
            <a:extLst xmlns:a="http://schemas.openxmlformats.org/drawingml/2006/main">
              <a:ext uri="{FF2B5EF4-FFF2-40B4-BE49-F238E27FC236}">
                <a16:creationId xmlns:a16="http://schemas.microsoft.com/office/drawing/2014/main" id="{190903D4-BEAC-4556-8F40-F7EF76699500}"/>
              </a:ext>
            </a:extLst>
          </p:cNvPr>
          <p:cNvSpPr>
            <a:spLocks xmlns:a="http://schemas.openxmlformats.org/drawingml/2006/main" noGrp="1"/>
          </p:cNvSpPr>
          <p:nvPr/>
        </p:nvSpPr>
        <p:spPr>
          <a:xfrm xmlns:a="http://schemas.openxmlformats.org/drawingml/2006/main">
            <a:off x="6762750" y="2571750"/>
            <a:ext cx="4762500" cy="180975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Professional service subscription</a:t>
            </a:r>
          </a:p>
          <a:p xmlns:a="http://schemas.openxmlformats.org/drawingml/2006/main">
            <a:r>
              <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Firm-defined package and price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Customer agreement and service invoice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Firm owns refund, cancellation and dispute</a:t>
            </a:r>
          </a:p>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One-off filing/government fees stay visible</a:t>
            </a:r>
          </a:p>
        </p:txBody>
      </p:sp>
      <p:sp>
        <p:nvSpPr>
          <p:cNvPr id="8" name="">
            <a:extLst xmlns:a="http://schemas.openxmlformats.org/drawingml/2006/main">
              <a:ext uri="{FF2B5EF4-FFF2-40B4-BE49-F238E27FC236}">
                <a16:creationId xmlns:a16="http://schemas.microsoft.com/office/drawing/2014/main" id="{5EBB81E3-1E79-4B47-9910-85614BDA37AF}"/>
              </a:ext>
            </a:extLst>
          </p:cNvPr>
          <p:cNvSpPr>
            <a:spLocks xmlns:a="http://schemas.openxmlformats.org/drawingml/2006/main" noGrp="1"/>
          </p:cNvSpPr>
          <p:nvPr/>
        </p:nvSpPr>
        <p:spPr>
          <a:xfrm xmlns:a="http://schemas.openxmlformats.org/drawingml/2006/main">
            <a:off x="1619250" y="4953000"/>
            <a:ext cx="8953500" cy="666750"/>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Pilot recommendation: MySect bills firms directly; firms collect customer payments directly. Add shared payment collection only after legal, tax, identity checks and dispute ownership are approved.</a:t>
            </a:r>
          </a:p>
        </p:txBody>
      </p:sp>
    </p:spTree>
    <p:extLst>
      <p:ext uri="{BB962C8B-B14F-4D97-AF65-F5344CB8AC3E}">
        <p14:creationId xmlns:p14="http://schemas.microsoft.com/office/powerpoint/2010/main" val="6042062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05A4E9B-3A0B-48B2-8563-3F80F0A8F37E}"/>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06DF3293-289F-4108-8D8F-64E10462CCDB}"/>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What we can realistically complete in 12 weeks</a:t>
            </a:r>
          </a:p>
        </p:txBody>
      </p:sp>
      <p:sp>
        <p:nvSpPr>
          <p:cNvPr id="3" name="">
            <a:extLst xmlns:a="http://schemas.openxmlformats.org/drawingml/2006/main">
              <a:ext uri="{FF2B5EF4-FFF2-40B4-BE49-F238E27FC236}">
                <a16:creationId xmlns:a16="http://schemas.microsoft.com/office/drawing/2014/main" id="{A0276A75-D387-4920-B12D-A24F76EEB18E}"/>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C6E531EF-D68E-4531-97A4-ABFA54D560AE}"/>
              </a:ext>
            </a:extLst>
          </p:cNvPr>
          <p:cNvSpPr>
            <a:spLocks xmlns:a="http://schemas.openxmlformats.org/drawingml/2006/main" noGrp="1"/>
          </p:cNvSpPr>
          <p:nvPr/>
        </p:nvSpPr>
        <p:spPr>
          <a:xfrm xmlns:a="http://schemas.openxmlformats.org/drawingml/2006/main">
            <a:off x="552450" y="1428750"/>
            <a:ext cx="2524125" cy="59055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Weeks 1–2</a:t>
            </a:r>
          </a:p>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Confirm and design</a:t>
            </a:r>
          </a:p>
        </p:txBody>
      </p:sp>
      <p:sp>
        <p:nvSpPr>
          <p:cNvPr id="5" name="">
            <a:extLst xmlns:a="http://schemas.openxmlformats.org/drawingml/2006/main">
              <a:ext uri="{FF2B5EF4-FFF2-40B4-BE49-F238E27FC236}">
                <a16:creationId xmlns:a16="http://schemas.microsoft.com/office/drawing/2014/main" id="{ACA826A1-3A65-4274-A70D-DDECE09BAF7E}"/>
              </a:ext>
            </a:extLst>
          </p:cNvPr>
          <p:cNvSpPr>
            <a:spLocks xmlns:a="http://schemas.openxmlformats.org/drawingml/2006/main" noGrp="1"/>
          </p:cNvSpPr>
          <p:nvPr/>
        </p:nvSpPr>
        <p:spPr>
          <a:xfrm xmlns:a="http://schemas.openxmlformats.org/drawingml/2006/main">
            <a:off x="3286125" y="1428750"/>
            <a:ext cx="2524125" cy="590550"/>
          </a:xfrm>
          <a:prstGeom xmlns:a="http://schemas.openxmlformats.org/drawingml/2006/main" prst="rect">
            <a:avLst/>
          </a:prstGeom>
          <a:solidFill xmlns:a="http://schemas.openxmlformats.org/drawingml/2006/main">
            <a:srgbClr val="1D6FA5"/>
          </a:solidFill>
          <a:ln xmlns:a="http://schemas.openxmlformats.org/drawingml/2006/main" w="9525">
            <a:solidFill>
              <a:srgbClr val="1D6FA5"/>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Weeks 3–6</a:t>
            </a:r>
          </a:p>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Customer flow</a:t>
            </a:r>
          </a:p>
        </p:txBody>
      </p:sp>
      <p:sp>
        <p:nvSpPr>
          <p:cNvPr id="6" name="">
            <a:extLst xmlns:a="http://schemas.openxmlformats.org/drawingml/2006/main">
              <a:ext uri="{FF2B5EF4-FFF2-40B4-BE49-F238E27FC236}">
                <a16:creationId xmlns:a16="http://schemas.microsoft.com/office/drawing/2014/main" id="{2AA6918C-0E14-494E-B7D1-C913E12463F7}"/>
              </a:ext>
            </a:extLst>
          </p:cNvPr>
          <p:cNvSpPr>
            <a:spLocks xmlns:a="http://schemas.openxmlformats.org/drawingml/2006/main" noGrp="1"/>
          </p:cNvSpPr>
          <p:nvPr/>
        </p:nvSpPr>
        <p:spPr>
          <a:xfrm xmlns:a="http://schemas.openxmlformats.org/drawingml/2006/main">
            <a:off x="6019800" y="1428750"/>
            <a:ext cx="2524125" cy="5905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Weeks 7–9</a:t>
            </a:r>
          </a:p>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Secretary operations</a:t>
            </a:r>
          </a:p>
        </p:txBody>
      </p:sp>
      <p:sp>
        <p:nvSpPr>
          <p:cNvPr id="7" name="">
            <a:extLst xmlns:a="http://schemas.openxmlformats.org/drawingml/2006/main">
              <a:ext uri="{FF2B5EF4-FFF2-40B4-BE49-F238E27FC236}">
                <a16:creationId xmlns:a16="http://schemas.microsoft.com/office/drawing/2014/main" id="{3C6038BF-2FEB-43BC-BD89-B1B0ACF7330E}"/>
              </a:ext>
            </a:extLst>
          </p:cNvPr>
          <p:cNvSpPr>
            <a:spLocks xmlns:a="http://schemas.openxmlformats.org/drawingml/2006/main" noGrp="1"/>
          </p:cNvSpPr>
          <p:nvPr/>
        </p:nvSpPr>
        <p:spPr>
          <a:xfrm xmlns:a="http://schemas.openxmlformats.org/drawingml/2006/main">
            <a:off x="8753475" y="1428750"/>
            <a:ext cx="2524125" cy="590550"/>
          </a:xfrm>
          <a:prstGeom xmlns:a="http://schemas.openxmlformats.org/drawingml/2006/main" prst="rect">
            <a:avLst/>
          </a:prstGeom>
          <a:solidFill xmlns:a="http://schemas.openxmlformats.org/drawingml/2006/main">
            <a:srgbClr val="123B6D"/>
          </a:solidFill>
          <a:ln xmlns:a="http://schemas.openxmlformats.org/drawingml/2006/main" w="9525">
            <a:solidFill>
              <a:srgbClr val="123B6D"/>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Weeks 10–12</a:t>
            </a:r>
          </a:p>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Pilot readiness</a:t>
            </a:r>
          </a:p>
        </p:txBody>
      </p:sp>
      <p:sp>
        <p:nvSpPr>
          <p:cNvPr id="8" name="">
            <a:extLst xmlns:a="http://schemas.openxmlformats.org/drawingml/2006/main">
              <a:ext uri="{FF2B5EF4-FFF2-40B4-BE49-F238E27FC236}">
                <a16:creationId xmlns:a16="http://schemas.microsoft.com/office/drawing/2014/main" id="{90612DE1-F0B7-4CC6-9E63-11440EEE4CC9}"/>
              </a:ext>
            </a:extLst>
          </p:cNvPr>
          <p:cNvSpPr>
            <a:spLocks xmlns:a="http://schemas.openxmlformats.org/drawingml/2006/main" noGrp="1"/>
          </p:cNvSpPr>
          <p:nvPr/>
        </p:nvSpPr>
        <p:spPr>
          <a:xfrm xmlns:a="http://schemas.openxmlformats.org/drawingml/2006/main">
            <a:off x="552450" y="2333625"/>
            <a:ext cx="2524125" cy="17145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Freeze first service
• Page checklist
• Pilot firm
• Data and access plan</a:t>
            </a:r>
          </a:p>
        </p:txBody>
      </p:sp>
      <p:sp>
        <p:nvSpPr>
          <p:cNvPr id="9" name="">
            <a:extLst xmlns:a="http://schemas.openxmlformats.org/drawingml/2006/main">
              <a:ext uri="{FF2B5EF4-FFF2-40B4-BE49-F238E27FC236}">
                <a16:creationId xmlns:a16="http://schemas.microsoft.com/office/drawing/2014/main" id="{F7B30E98-B246-4C82-9E26-E4F017E939C6}"/>
              </a:ext>
            </a:extLst>
          </p:cNvPr>
          <p:cNvSpPr>
            <a:spLocks xmlns:a="http://schemas.openxmlformats.org/drawingml/2006/main" noGrp="1"/>
          </p:cNvSpPr>
          <p:nvPr/>
        </p:nvSpPr>
        <p:spPr>
          <a:xfrm xmlns:a="http://schemas.openxmlformats.org/drawingml/2006/main">
            <a:off x="3286125" y="2333625"/>
            <a:ext cx="2524125" cy="171450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Sign-in and company setup
• AI intake
• Request status
• Documents</a:t>
            </a:r>
          </a:p>
        </p:txBody>
      </p:sp>
      <p:sp>
        <p:nvSpPr>
          <p:cNvPr id="10" name="">
            <a:extLst xmlns:a="http://schemas.openxmlformats.org/drawingml/2006/main">
              <a:ext uri="{FF2B5EF4-FFF2-40B4-BE49-F238E27FC236}">
                <a16:creationId xmlns:a16="http://schemas.microsoft.com/office/drawing/2014/main" id="{4E0CD3CC-2802-490E-A398-9491D826E696}"/>
              </a:ext>
            </a:extLst>
          </p:cNvPr>
          <p:cNvSpPr>
            <a:spLocks xmlns:a="http://schemas.openxmlformats.org/drawingml/2006/main" noGrp="1"/>
          </p:cNvSpPr>
          <p:nvPr/>
        </p:nvSpPr>
        <p:spPr>
          <a:xfrm xmlns:a="http://schemas.openxmlformats.org/drawingml/2006/main">
            <a:off x="6019800" y="2333625"/>
            <a:ext cx="2524125" cy="17145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AI escalation queue
• Human conversation
• Information requests
• Approvals</a:t>
            </a:r>
          </a:p>
        </p:txBody>
      </p:sp>
      <p:sp>
        <p:nvSpPr>
          <p:cNvPr id="11" name="">
            <a:extLst xmlns:a="http://schemas.openxmlformats.org/drawingml/2006/main">
              <a:ext uri="{FF2B5EF4-FFF2-40B4-BE49-F238E27FC236}">
                <a16:creationId xmlns:a16="http://schemas.microsoft.com/office/drawing/2014/main" id="{F8BDE273-9DF8-4804-9CA6-BF71512737BC}"/>
              </a:ext>
            </a:extLst>
          </p:cNvPr>
          <p:cNvSpPr>
            <a:spLocks xmlns:a="http://schemas.openxmlformats.org/drawingml/2006/main" noGrp="1"/>
          </p:cNvSpPr>
          <p:nvPr/>
        </p:nvSpPr>
        <p:spPr>
          <a:xfrm xmlns:a="http://schemas.openxmlformats.org/drawingml/2006/main">
            <a:off x="8753475" y="2333625"/>
            <a:ext cx="2524125" cy="1714500"/>
          </a:xfrm>
          <a:prstGeom xmlns:a="http://schemas.openxmlformats.org/drawingml/2006/main" prst="rect">
            <a:avLst/>
          </a:prstGeom>
          <a:solidFill xmlns:a="http://schemas.openxmlformats.org/drawingml/2006/main">
            <a:srgbClr val="F8FBFD"/>
          </a:solidFill>
          <a:ln xmlns:a="http://schemas.openxmlformats.org/drawingml/2006/main" w="9525">
            <a:solidFill>
              <a:srgbClr val="D8E3EA"/>
            </a:solidFill>
          </a:ln>
        </p:spPr>
        <p:txBody>
          <a:bodyPr xmlns:a="http://schemas.openxmlformats.org/drawingml/2006/main">
            <a:normAutofit fontScale="100000"/>
          </a:bodyPr>
          <a:lstStyle xmlns:a="http://schemas.openxmlformats.org/drawingml/2006/main"/>
          <a:p xmlns:a="http://schemas.openxmlformats.org/drawingml/2006/main">
            <a:pPr>
              <a:defRPr sz="1275" b="0" i="0">
                <a:solidFill>
                  <a:srgbClr val="243447"/>
                </a:solidFill>
                <a:latin typeface="Helvetica Neue"/>
                <a:ea typeface="Helvetica Neue"/>
                <a:cs typeface="Helvetica Neue"/>
              </a:defRPr>
            </a:pPr>
            <a:r>
              <a:rPr sz="1275" b="0" i="0">
                <a:solidFill>
                  <a:srgbClr val="243447"/>
                </a:solidFill>
                <a:latin typeface="Helvetica Neue"/>
                <a:ea typeface="Helvetica Neue"/>
                <a:cs typeface="Helvetica Neue"/>
              </a:rPr>
              <a:t>• Admin controls
• Billing status
• Backup test
• Pilot training</a:t>
            </a:r>
          </a:p>
        </p:txBody>
      </p:sp>
      <p:sp>
        <p:nvSpPr>
          <p:cNvPr id="12" name="">
            <a:extLst xmlns:a="http://schemas.openxmlformats.org/drawingml/2006/main">
              <a:ext uri="{FF2B5EF4-FFF2-40B4-BE49-F238E27FC236}">
                <a16:creationId xmlns:a16="http://schemas.microsoft.com/office/drawing/2014/main" id="{E0459721-424C-42D9-89D7-36144A3AE6DC}"/>
              </a:ext>
            </a:extLst>
          </p:cNvPr>
          <p:cNvSpPr>
            <a:spLocks xmlns:a="http://schemas.openxmlformats.org/drawingml/2006/main" noGrp="1"/>
          </p:cNvSpPr>
          <p:nvPr/>
        </p:nvSpPr>
        <p:spPr>
          <a:xfrm xmlns:a="http://schemas.openxmlformats.org/drawingml/2006/main">
            <a:off x="762000" y="4857750"/>
            <a:ext cx="10668000" cy="723900"/>
          </a:xfrm>
          <a:prstGeom xmlns:a="http://schemas.openxmlformats.org/drawingml/2006/main" prst="rect">
            <a:avLst/>
          </a:prstGeom>
          <a:solidFill xmlns:a="http://schemas.openxmlformats.org/drawingml/2006/main">
            <a:srgbClr val="FFF8E8"/>
          </a:solidFill>
          <a:ln xmlns:a="http://schemas.openxmlformats.org/drawingml/2006/main" w="9525">
            <a:solidFill>
              <a:srgbClr val="F4D79A"/>
            </a:solid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123B6D"/>
                </a:solidFill>
                <a:latin typeface="Helvetica Neue"/>
                <a:ea typeface="Helvetica Neue"/>
                <a:cs typeface="Helvetica Neue"/>
              </a:defRPr>
            </a:pPr>
            <a:r>
              <a:rPr sz="1500" b="1" i="0">
                <a:solidFill>
                  <a:srgbClr val="123B6D"/>
                </a:solidFill>
                <a:latin typeface="Helvetica Neue"/>
                <a:ea typeface="Helvetica Neue"/>
                <a:cs typeface="Helvetica Neue"/>
              </a:rPr>
              <a:t>To meet three months, defer full statutory automation, complex marketplace payouts, the secretary mobile app, advanced analytics, and every possible service type.</a:t>
            </a:r>
          </a:p>
        </p:txBody>
      </p:sp>
    </p:spTree>
    <p:extLst>
      <p:ext uri="{BB962C8B-B14F-4D97-AF65-F5344CB8AC3E}">
        <p14:creationId xmlns:p14="http://schemas.microsoft.com/office/powerpoint/2010/main" val="119545854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98BFDD1-442C-4E5B-8566-7BC54E2E8CEF}"/>
              </a:ext>
            </a:extLst>
          </p:cNvPr>
          <p:cNvSpPr>
            <a:spLocks xmlns:a="http://schemas.openxmlformats.org/drawingml/2006/main" noGrp="1"/>
          </p:cNvSpPr>
          <p:nvPr/>
        </p:nvSpPr>
        <p:spPr>
          <a:xfrm xmlns:a="http://schemas.openxmlformats.org/drawingml/2006/main">
            <a:off x="552450" y="266700"/>
            <a:ext cx="11087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900" b="1" i="0">
                <a:solidFill>
                  <a:srgbClr val="087E8B"/>
                </a:solidFill>
                <a:latin typeface="Helvetica Neue"/>
                <a:ea typeface="Helvetica Neue"/>
                <a:cs typeface="Helvetica Neue"/>
              </a:defRPr>
            </a:pPr>
            <a:r>
              <a:rPr sz="900" b="1" i="0">
                <a:solidFill>
                  <a:srgbClr val="087E8B"/>
                </a:solidFill>
                <a:latin typeface="Helvetica Neue"/>
                <a:ea typeface="Helvetica Neue"/>
                <a:cs typeface="Helvetica Neue"/>
              </a:rPr>
              <a:t>MYSECT PLATFORM BLUEPRINT</a:t>
            </a:r>
          </a:p>
        </p:txBody>
      </p:sp>
      <p:sp>
        <p:nvSpPr>
          <p:cNvPr id="2" name="">
            <a:extLst xmlns:a="http://schemas.openxmlformats.org/drawingml/2006/main">
              <a:ext uri="{FF2B5EF4-FFF2-40B4-BE49-F238E27FC236}">
                <a16:creationId xmlns:a16="http://schemas.microsoft.com/office/drawing/2014/main" id="{500A0EC5-2D8F-42BE-B44E-0F0F00F20DA6}"/>
              </a:ext>
            </a:extLst>
          </p:cNvPr>
          <p:cNvSpPr>
            <a:spLocks xmlns:a="http://schemas.openxmlformats.org/drawingml/2006/main" noGrp="1"/>
          </p:cNvSpPr>
          <p:nvPr/>
        </p:nvSpPr>
        <p:spPr>
          <a:xfrm xmlns:a="http://schemas.openxmlformats.org/drawingml/2006/main">
            <a:off x="552450" y="523875"/>
            <a:ext cx="11087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i="0">
                <a:solidFill>
                  <a:srgbClr val="123B6D"/>
                </a:solidFill>
                <a:latin typeface="Helvetica Neue"/>
                <a:ea typeface="Helvetica Neue"/>
                <a:cs typeface="Helvetica Neue"/>
              </a:defRPr>
            </a:pPr>
            <a:r>
              <a:rPr sz="2400" b="1" i="0">
                <a:solidFill>
                  <a:srgbClr val="123B6D"/>
                </a:solidFill>
                <a:latin typeface="Helvetica Neue"/>
                <a:ea typeface="Helvetica Neue"/>
                <a:cs typeface="Helvetica Neue"/>
              </a:rPr>
              <a:t>Management decisions required before UI design</a:t>
            </a:r>
          </a:p>
        </p:txBody>
      </p:sp>
      <p:sp>
        <p:nvSpPr>
          <p:cNvPr id="3" name="">
            <a:extLst xmlns:a="http://schemas.openxmlformats.org/drawingml/2006/main">
              <a:ext uri="{FF2B5EF4-FFF2-40B4-BE49-F238E27FC236}">
                <a16:creationId xmlns:a16="http://schemas.microsoft.com/office/drawing/2014/main" id="{84751135-8AE1-4C05-8758-888240C6C795}"/>
              </a:ext>
            </a:extLst>
          </p:cNvPr>
          <p:cNvSpPr>
            <a:spLocks xmlns:a="http://schemas.openxmlformats.org/drawingml/2006/main" noGrp="1"/>
          </p:cNvSpPr>
          <p:nvPr/>
        </p:nvSpPr>
        <p:spPr>
          <a:xfrm xmlns:a="http://schemas.openxmlformats.org/drawingml/2006/main">
            <a:off x="552450" y="6496050"/>
            <a:ext cx="11087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000"/>
          </a:bodyPr>
          <a:lstStyle xmlns:a="http://schemas.openxmlformats.org/drawingml/2006/main"/>
          <a:p xmlns:a="http://schemas.openxmlformats.org/drawingml/2006/main">
            <a:pPr>
              <a:defRPr sz="750" b="0" i="0">
                <a:solidFill>
                  <a:srgbClr val="607080"/>
                </a:solidFill>
                <a:latin typeface="Helvetica Neue"/>
                <a:ea typeface="Helvetica Neue"/>
                <a:cs typeface="Helvetica Neue"/>
              </a:defRPr>
            </a:pPr>
            <a:r>
              <a:rPr sz="750" b="0" i="0">
                <a:solidFill>
                  <a:srgbClr val="607080"/>
                </a:solidFill>
                <a:latin typeface="Helvetica Neue"/>
                <a:ea typeface="Helvetica Neue"/>
                <a:cs typeface="Helvetica Neue"/>
              </a:rPr>
              <a:t>MySect | Confidential planning document | 28 September 2026</a:t>
            </a:r>
          </a:p>
        </p:txBody>
      </p:sp>
      <p:sp>
        <p:nvSpPr>
          <p:cNvPr id="4" name="">
            <a:extLst xmlns:a="http://schemas.openxmlformats.org/drawingml/2006/main">
              <a:ext uri="{FF2B5EF4-FFF2-40B4-BE49-F238E27FC236}">
                <a16:creationId xmlns:a16="http://schemas.microsoft.com/office/drawing/2014/main" id="{3F974C4B-09DB-4641-9D5D-0FC8CE68AD12}"/>
              </a:ext>
            </a:extLst>
          </p:cNvPr>
          <p:cNvSpPr>
            <a:spLocks xmlns:a="http://schemas.openxmlformats.org/drawingml/2006/main" noGrp="1"/>
          </p:cNvSpPr>
          <p:nvPr/>
        </p:nvSpPr>
        <p:spPr>
          <a:xfrm xmlns:a="http://schemas.openxmlformats.org/drawingml/2006/main">
            <a:off x="714375" y="13811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C55121B9-67E0-414F-AFE4-44C1741489F3}"/>
              </a:ext>
            </a:extLst>
          </p:cNvPr>
          <p:cNvSpPr>
            <a:spLocks xmlns:a="http://schemas.openxmlformats.org/drawingml/2006/main" noGrp="1"/>
          </p:cNvSpPr>
          <p:nvPr/>
        </p:nvSpPr>
        <p:spPr>
          <a:xfrm xmlns:a="http://schemas.openxmlformats.org/drawingml/2006/main">
            <a:off x="1333500" y="13620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Confirm launch scope: company secretary services and first workflow</a:t>
            </a:r>
          </a:p>
        </p:txBody>
      </p:sp>
      <p:sp>
        <p:nvSpPr>
          <p:cNvPr id="6" name="">
            <a:extLst xmlns:a="http://schemas.openxmlformats.org/drawingml/2006/main">
              <a:ext uri="{FF2B5EF4-FFF2-40B4-BE49-F238E27FC236}">
                <a16:creationId xmlns:a16="http://schemas.microsoft.com/office/drawing/2014/main" id="{DD79A897-86EF-4C8F-A5ED-B9222131CE6A}"/>
              </a:ext>
            </a:extLst>
          </p:cNvPr>
          <p:cNvSpPr>
            <a:spLocks xmlns:a="http://schemas.openxmlformats.org/drawingml/2006/main" noGrp="1"/>
          </p:cNvSpPr>
          <p:nvPr/>
        </p:nvSpPr>
        <p:spPr>
          <a:xfrm xmlns:a="http://schemas.openxmlformats.org/drawingml/2006/main">
            <a:off x="714375" y="19907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0AD7FE45-7EC7-4DA5-ADA6-84B47A3AF356}"/>
              </a:ext>
            </a:extLst>
          </p:cNvPr>
          <p:cNvSpPr>
            <a:spLocks xmlns:a="http://schemas.openxmlformats.org/drawingml/2006/main" noGrp="1"/>
          </p:cNvSpPr>
          <p:nvPr/>
        </p:nvSpPr>
        <p:spPr>
          <a:xfrm xmlns:a="http://schemas.openxmlformats.org/drawingml/2006/main">
            <a:off x="1333500" y="19716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Confirm Secretary Firm commercial model and pilot firm</a:t>
            </a:r>
          </a:p>
        </p:txBody>
      </p:sp>
      <p:sp>
        <p:nvSpPr>
          <p:cNvPr id="8" name="">
            <a:extLst xmlns:a="http://schemas.openxmlformats.org/drawingml/2006/main">
              <a:ext uri="{FF2B5EF4-FFF2-40B4-BE49-F238E27FC236}">
                <a16:creationId xmlns:a16="http://schemas.microsoft.com/office/drawing/2014/main" id="{1C25A251-EF3A-410F-8A1A-DF8CCA3B5977}"/>
              </a:ext>
            </a:extLst>
          </p:cNvPr>
          <p:cNvSpPr>
            <a:spLocks xmlns:a="http://schemas.openxmlformats.org/drawingml/2006/main" noGrp="1"/>
          </p:cNvSpPr>
          <p:nvPr/>
        </p:nvSpPr>
        <p:spPr>
          <a:xfrm xmlns:a="http://schemas.openxmlformats.org/drawingml/2006/main">
            <a:off x="714375" y="26003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3</a:t>
            </a:r>
          </a:p>
        </p:txBody>
      </p:sp>
      <p:sp>
        <p:nvSpPr>
          <p:cNvPr id="9" name="">
            <a:extLst xmlns:a="http://schemas.openxmlformats.org/drawingml/2006/main">
              <a:ext uri="{FF2B5EF4-FFF2-40B4-BE49-F238E27FC236}">
                <a16:creationId xmlns:a16="http://schemas.microsoft.com/office/drawing/2014/main" id="{C02EBF82-E992-4D66-B3E4-82D44AA8C4B3}"/>
              </a:ext>
            </a:extLst>
          </p:cNvPr>
          <p:cNvSpPr>
            <a:spLocks xmlns:a="http://schemas.openxmlformats.org/drawingml/2006/main" noGrp="1"/>
          </p:cNvSpPr>
          <p:nvPr/>
        </p:nvSpPr>
        <p:spPr>
          <a:xfrm xmlns:a="http://schemas.openxmlformats.org/drawingml/2006/main">
            <a:off x="1333500" y="25812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Request TM Cloud quote for 100–500GB plus backups</a:t>
            </a:r>
          </a:p>
        </p:txBody>
      </p:sp>
      <p:sp>
        <p:nvSpPr>
          <p:cNvPr id="10" name="">
            <a:extLst xmlns:a="http://schemas.openxmlformats.org/drawingml/2006/main">
              <a:ext uri="{FF2B5EF4-FFF2-40B4-BE49-F238E27FC236}">
                <a16:creationId xmlns:a16="http://schemas.microsoft.com/office/drawing/2014/main" id="{B8B25CCD-B368-4A51-8B76-4652F62673BE}"/>
              </a:ext>
            </a:extLst>
          </p:cNvPr>
          <p:cNvSpPr>
            <a:spLocks xmlns:a="http://schemas.openxmlformats.org/drawingml/2006/main" noGrp="1"/>
          </p:cNvSpPr>
          <p:nvPr/>
        </p:nvSpPr>
        <p:spPr>
          <a:xfrm xmlns:a="http://schemas.openxmlformats.org/drawingml/2006/main">
            <a:off x="714375" y="32099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4</a:t>
            </a:r>
          </a:p>
        </p:txBody>
      </p:sp>
      <p:sp>
        <p:nvSpPr>
          <p:cNvPr id="11" name="">
            <a:extLst xmlns:a="http://schemas.openxmlformats.org/drawingml/2006/main">
              <a:ext uri="{FF2B5EF4-FFF2-40B4-BE49-F238E27FC236}">
                <a16:creationId xmlns:a16="http://schemas.microsoft.com/office/drawing/2014/main" id="{BD459C49-EACE-4D94-AD06-B0202850D0DC}"/>
              </a:ext>
            </a:extLst>
          </p:cNvPr>
          <p:cNvSpPr>
            <a:spLocks xmlns:a="http://schemas.openxmlformats.org/drawingml/2006/main" noGrp="1"/>
          </p:cNvSpPr>
          <p:nvPr/>
        </p:nvSpPr>
        <p:spPr>
          <a:xfrm xmlns:a="http://schemas.openxmlformats.org/drawingml/2006/main">
            <a:off x="1333500" y="31908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Shortlist e-KYC provider and run 20–50 test checks</a:t>
            </a:r>
          </a:p>
        </p:txBody>
      </p:sp>
      <p:sp>
        <p:nvSpPr>
          <p:cNvPr id="12" name="">
            <a:extLst xmlns:a="http://schemas.openxmlformats.org/drawingml/2006/main">
              <a:ext uri="{FF2B5EF4-FFF2-40B4-BE49-F238E27FC236}">
                <a16:creationId xmlns:a16="http://schemas.microsoft.com/office/drawing/2014/main" id="{90C0C4FC-37A0-475C-BCB4-2EB742A000D4}"/>
              </a:ext>
            </a:extLst>
          </p:cNvPr>
          <p:cNvSpPr>
            <a:spLocks xmlns:a="http://schemas.openxmlformats.org/drawingml/2006/main" noGrp="1"/>
          </p:cNvSpPr>
          <p:nvPr/>
        </p:nvSpPr>
        <p:spPr>
          <a:xfrm xmlns:a="http://schemas.openxmlformats.org/drawingml/2006/main">
            <a:off x="714375" y="38195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5</a:t>
            </a:r>
          </a:p>
        </p:txBody>
      </p:sp>
      <p:sp>
        <p:nvSpPr>
          <p:cNvPr id="13" name="">
            <a:extLst xmlns:a="http://schemas.openxmlformats.org/drawingml/2006/main">
              <a:ext uri="{FF2B5EF4-FFF2-40B4-BE49-F238E27FC236}">
                <a16:creationId xmlns:a16="http://schemas.microsoft.com/office/drawing/2014/main" id="{B22E1E9B-A028-4D35-AE22-F97E3A4E39BB}"/>
              </a:ext>
            </a:extLst>
          </p:cNvPr>
          <p:cNvSpPr>
            <a:spLocks xmlns:a="http://schemas.openxmlformats.org/drawingml/2006/main" noGrp="1"/>
          </p:cNvSpPr>
          <p:nvPr/>
        </p:nvSpPr>
        <p:spPr>
          <a:xfrm xmlns:a="http://schemas.openxmlformats.org/drawingml/2006/main">
            <a:off x="1333500" y="38004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Approve pilot AI provider and data-processing review</a:t>
            </a:r>
          </a:p>
        </p:txBody>
      </p:sp>
      <p:sp>
        <p:nvSpPr>
          <p:cNvPr id="14" name="">
            <a:extLst xmlns:a="http://schemas.openxmlformats.org/drawingml/2006/main">
              <a:ext uri="{FF2B5EF4-FFF2-40B4-BE49-F238E27FC236}">
                <a16:creationId xmlns:a16="http://schemas.microsoft.com/office/drawing/2014/main" id="{354BDD4A-0CC9-4761-A822-9B4C1EE0E816}"/>
              </a:ext>
            </a:extLst>
          </p:cNvPr>
          <p:cNvSpPr>
            <a:spLocks xmlns:a="http://schemas.openxmlformats.org/drawingml/2006/main" noGrp="1"/>
          </p:cNvSpPr>
          <p:nvPr/>
        </p:nvSpPr>
        <p:spPr>
          <a:xfrm xmlns:a="http://schemas.openxmlformats.org/drawingml/2006/main">
            <a:off x="714375" y="4429125"/>
            <a:ext cx="400050" cy="400050"/>
          </a:xfrm>
          <a:prstGeom xmlns:a="http://schemas.openxmlformats.org/drawingml/2006/main" prst="rect">
            <a:avLst/>
          </a:prstGeom>
          <a:solidFill xmlns:a="http://schemas.openxmlformats.org/drawingml/2006/main">
            <a:srgbClr val="087E8B"/>
          </a:solidFill>
          <a:ln xmlns:a="http://schemas.openxmlformats.org/drawingml/2006/main" w="9525">
            <a:solidFill>
              <a:srgbClr val="087E8B"/>
            </a:solidFill>
          </a:ln>
        </p:spPr>
        <p:txBody>
          <a:bodyPr xmlns:a="http://schemas.openxmlformats.org/drawingml/2006/main">
            <a:normAutofit fontScale="100000"/>
          </a:bodyPr>
          <a:lstStyle xmlns:a="http://schemas.openxmlformats.org/drawingml/2006/main"/>
          <a:p xmlns:a="http://schemas.openxmlformats.org/drawingml/2006/main">
            <a:pPr>
              <a:defRPr sz="1425" b="1" i="0">
                <a:solidFill>
                  <a:srgbClr val="FFFFFF"/>
                </a:solidFill>
                <a:latin typeface="Helvetica Neue"/>
                <a:ea typeface="Helvetica Neue"/>
                <a:cs typeface="Helvetica Neue"/>
              </a:defRPr>
            </a:pPr>
            <a:r>
              <a:rPr sz="1425" b="1" i="0">
                <a:solidFill>
                  <a:srgbClr val="FFFFFF"/>
                </a:solidFill>
                <a:latin typeface="Helvetica Neue"/>
                <a:ea typeface="Helvetica Neue"/>
                <a:cs typeface="Helvetica Neue"/>
              </a:rPr>
              <a:t>6</a:t>
            </a:r>
          </a:p>
        </p:txBody>
      </p:sp>
      <p:sp>
        <p:nvSpPr>
          <p:cNvPr id="15" name="">
            <a:extLst xmlns:a="http://schemas.openxmlformats.org/drawingml/2006/main">
              <a:ext uri="{FF2B5EF4-FFF2-40B4-BE49-F238E27FC236}">
                <a16:creationId xmlns:a16="http://schemas.microsoft.com/office/drawing/2014/main" id="{404AA8F3-6943-4A55-A38B-05246F4AB58A}"/>
              </a:ext>
            </a:extLst>
          </p:cNvPr>
          <p:cNvSpPr>
            <a:spLocks xmlns:a="http://schemas.openxmlformats.org/drawingml/2006/main" noGrp="1"/>
          </p:cNvSpPr>
          <p:nvPr/>
        </p:nvSpPr>
        <p:spPr>
          <a:xfrm xmlns:a="http://schemas.openxmlformats.org/drawingml/2006/main">
            <a:off x="1333500" y="4410075"/>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i="0">
                <a:solidFill>
                  <a:srgbClr val="243447"/>
                </a:solidFill>
                <a:latin typeface="Helvetica Neue"/>
                <a:ea typeface="Helvetica Neue"/>
                <a:cs typeface="Helvetica Neue"/>
              </a:defRPr>
            </a:pPr>
            <a:r>
              <a:rPr sz="1500" b="0" i="0">
                <a:solidFill>
                  <a:srgbClr val="243447"/>
                </a:solidFill>
                <a:latin typeface="Helvetica Neue"/>
                <a:ea typeface="Helvetica Neue"/>
                <a:cs typeface="Helvetica Neue"/>
              </a:rPr>
              <a:t>Name the first 5–10 customer companies for testing</a:t>
            </a:r>
          </a:p>
        </p:txBody>
      </p:sp>
      <p:sp>
        <p:nvSpPr>
          <p:cNvPr id="16" name="">
            <a:extLst xmlns:a="http://schemas.openxmlformats.org/drawingml/2006/main">
              <a:ext uri="{FF2B5EF4-FFF2-40B4-BE49-F238E27FC236}">
                <a16:creationId xmlns:a16="http://schemas.microsoft.com/office/drawing/2014/main" id="{747A2626-8BD5-4EB9-9142-5F5823B0042F}"/>
              </a:ext>
            </a:extLst>
          </p:cNvPr>
          <p:cNvSpPr>
            <a:spLocks xmlns:a="http://schemas.openxmlformats.org/drawingml/2006/main" noGrp="1"/>
          </p:cNvSpPr>
          <p:nvPr/>
        </p:nvSpPr>
        <p:spPr>
          <a:xfrm xmlns:a="http://schemas.openxmlformats.org/drawingml/2006/main">
            <a:off x="714375" y="5381625"/>
            <a:ext cx="10715625" cy="457200"/>
          </a:xfrm>
          <a:prstGeom xmlns:a="http://schemas.openxmlformats.org/drawingml/2006/main" prst="rect">
            <a:avLst/>
          </a:prstGeom>
          <a:solidFill xmlns:a="http://schemas.openxmlformats.org/drawingml/2006/main">
            <a:srgbClr val="EEF4F8"/>
          </a:solidFill>
          <a:ln xmlns:a="http://schemas.openxmlformats.org/drawingml/2006/main" w="9525">
            <a:solidFill>
              <a:srgbClr val="D8E3EA"/>
            </a:solidFill>
          </a:ln>
        </p:spPr>
        <p:txBody>
          <a:bodyPr xmlns:a="http://schemas.openxmlformats.org/drawingml/2006/main">
            <a:normAutofit fontScale="98350"/>
          </a:bodyPr>
          <a:lstStyle xmlns:a="http://schemas.openxmlformats.org/drawingml/2006/main"/>
          <a:p xmlns:a="http://schemas.openxmlformats.org/drawingml/2006/main">
            <a:pPr>
              <a:defRPr sz="1425" b="1" i="0">
                <a:solidFill>
                  <a:srgbClr val="123B6D"/>
                </a:solidFill>
                <a:latin typeface="Helvetica Neue"/>
                <a:ea typeface="Helvetica Neue"/>
                <a:cs typeface="Helvetica Neue"/>
              </a:defRPr>
            </a:pPr>
            <a:r>
              <a:rPr sz="1425" b="1" i="0">
                <a:solidFill>
                  <a:srgbClr val="123B6D"/>
                </a:solidFill>
                <a:latin typeface="Helvetica Neue"/>
                <a:ea typeface="Helvetica Neue"/>
                <a:cs typeface="Helvetica Neue"/>
              </a:rPr>
              <a:t>Recommended next milestone: approve the blueprint, then write the detailed feature and workflow plan before visual design.</a:t>
            </a:r>
          </a:p>
        </p:txBody>
      </p:sp>
    </p:spTree>
    <p:extLst>
      <p:ext uri="{BB962C8B-B14F-4D97-AF65-F5344CB8AC3E}">
        <p14:creationId xmlns:p14="http://schemas.microsoft.com/office/powerpoint/2010/main" val="5765786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2026-09-28T01:53:04.0630000Z</dcterms:created>
  <dcterms:modified xsi:type="dcterms:W3CDTF">2026-09-28T01:53:04.0630000Z</dcterms:modified>
</coreProperties>
</file>